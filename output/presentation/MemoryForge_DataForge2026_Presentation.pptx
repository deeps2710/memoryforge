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23e3cefc784f87" /><Relationship Type="http://schemas.openxmlformats.org/officeDocument/2006/relationships/extended-properties" Target="/docProps/app.xml" Id="R3aa7f99c9fff45c4" /><Relationship Type="http://schemas.openxmlformats.org/officeDocument/2006/relationships/officeDocument" Target="/ppt/presentation.xml" Id="R3e2e5ee9c79f46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3ef6d8d25349eb"/>
  </p:sldMasterIdLst>
  <p:notesMasterIdLst>
    <p:notesMasterId xmlns:r="http://schemas.openxmlformats.org/officeDocument/2006/relationships" r:id="R0f74b763e27c4540"/>
  </p:notesMasterIdLst>
  <p:sldIdLst>
    <p:sldId xmlns:r="http://schemas.openxmlformats.org/officeDocument/2006/relationships" id="256" r:id="R3a446a5f9efa42e8"/>
    <p:sldId xmlns:r="http://schemas.openxmlformats.org/officeDocument/2006/relationships" id="257" r:id="R2c1fb89c63e64b9d"/>
    <p:sldId xmlns:r="http://schemas.openxmlformats.org/officeDocument/2006/relationships" id="258" r:id="Ra8a967254010405e"/>
    <p:sldId xmlns:r="http://schemas.openxmlformats.org/officeDocument/2006/relationships" id="259" r:id="R6441ca9bcb0e4d4d"/>
    <p:sldId xmlns:r="http://schemas.openxmlformats.org/officeDocument/2006/relationships" id="260" r:id="Re54bd14291aa4e3e"/>
    <p:sldId xmlns:r="http://schemas.openxmlformats.org/officeDocument/2006/relationships" id="261" r:id="Rbff80da438e444f2"/>
    <p:sldId xmlns:r="http://schemas.openxmlformats.org/officeDocument/2006/relationships" id="262" r:id="Rc177ff9f8e94439b"/>
    <p:sldId xmlns:r="http://schemas.openxmlformats.org/officeDocument/2006/relationships" id="263" r:id="R441e67b35c644c60"/>
    <p:sldId xmlns:r="http://schemas.openxmlformats.org/officeDocument/2006/relationships" id="264" r:id="R9dc41a564c8e46d7"/>
    <p:sldId xmlns:r="http://schemas.openxmlformats.org/officeDocument/2006/relationships" id="265" r:id="R5a103f6c8cd34fb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812964e6df4a2f" /><Relationship Type="http://schemas.openxmlformats.org/officeDocument/2006/relationships/slideMaster" Target="/ppt/slideMasters/slideMaster1.xml" Id="Re73ef6d8d25349eb" /><Relationship Type="http://schemas.openxmlformats.org/officeDocument/2006/relationships/notesMaster" Target="/ppt/notesMasters/notesMaster1.xml" Id="R0f74b763e27c4540" /><Relationship Type="http://schemas.openxmlformats.org/officeDocument/2006/relationships/presProps" Target="/ppt/presProps.xml" Id="R0b55354d583b404c" /><Relationship Type="http://schemas.openxmlformats.org/officeDocument/2006/relationships/tableStyles" Target="/ppt/tableStyles.xml" Id="Rdf9b614a95c74cc3" /><Relationship Type="http://schemas.openxmlformats.org/officeDocument/2006/relationships/slide" Target="/ppt/slides/slide1.xml" Id="R3a446a5f9efa42e8" /><Relationship Type="http://schemas.openxmlformats.org/officeDocument/2006/relationships/slide" Target="/ppt/slides/slide2.xml" Id="R2c1fb89c63e64b9d" /><Relationship Type="http://schemas.openxmlformats.org/officeDocument/2006/relationships/slide" Target="/ppt/slides/slide3.xml" Id="Ra8a967254010405e" /><Relationship Type="http://schemas.openxmlformats.org/officeDocument/2006/relationships/slide" Target="/ppt/slides/slide4.xml" Id="R6441ca9bcb0e4d4d" /><Relationship Type="http://schemas.openxmlformats.org/officeDocument/2006/relationships/slide" Target="/ppt/slides/slide5.xml" Id="Re54bd14291aa4e3e" /><Relationship Type="http://schemas.openxmlformats.org/officeDocument/2006/relationships/slide" Target="/ppt/slides/slide6.xml" Id="Rbff80da438e444f2" /><Relationship Type="http://schemas.openxmlformats.org/officeDocument/2006/relationships/slide" Target="/ppt/slides/slide7.xml" Id="Rc177ff9f8e94439b" /><Relationship Type="http://schemas.openxmlformats.org/officeDocument/2006/relationships/slide" Target="/ppt/slides/slide8.xml" Id="R441e67b35c644c60" /><Relationship Type="http://schemas.openxmlformats.org/officeDocument/2006/relationships/slide" Target="/ppt/slides/slide9.xml" Id="R9dc41a564c8e46d7" /><Relationship Type="http://schemas.openxmlformats.org/officeDocument/2006/relationships/slide" Target="/ppt/slides/slide10.xml" Id="R5a103f6c8cd34f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c7806cd40b4a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e180912d9948f9" /><Relationship Type="http://schemas.openxmlformats.org/officeDocument/2006/relationships/notesMaster" Target="/ppt/notesMasters/notesMaster1.xml" Id="R01d2d94e8e474b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99ab258053487f" /><Relationship Type="http://schemas.openxmlformats.org/officeDocument/2006/relationships/notesMaster" Target="/ppt/notesMasters/notesMaster1.xml" Id="R668e30f1e4bb45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ece129b53a4dd9" /><Relationship Type="http://schemas.openxmlformats.org/officeDocument/2006/relationships/notesMaster" Target="/ppt/notesMasters/notesMaster1.xml" Id="Rd20da7c5d27840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2718411daf44ca" /><Relationship Type="http://schemas.openxmlformats.org/officeDocument/2006/relationships/notesMaster" Target="/ppt/notesMasters/notesMaster1.xml" Id="R127cf43a89054a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6c1b2b510cb4b40" /><Relationship Type="http://schemas.openxmlformats.org/officeDocument/2006/relationships/notesMaster" Target="/ppt/notesMasters/notesMaster1.xml" Id="R699f007818c847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079979c40941e3" /><Relationship Type="http://schemas.openxmlformats.org/officeDocument/2006/relationships/notesMaster" Target="/ppt/notesMasters/notesMaster1.xml" Id="Ra5d5c65b1f3d433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c3b9d8ab0046db" /><Relationship Type="http://schemas.openxmlformats.org/officeDocument/2006/relationships/notesMaster" Target="/ppt/notesMasters/notesMaster1.xml" Id="R77c8a759247646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09b674d40c4461f" /><Relationship Type="http://schemas.openxmlformats.org/officeDocument/2006/relationships/notesMaster" Target="/ppt/notesMasters/notesMaster1.xml" Id="R6c704f1bf97c499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46184f771094b5e" /><Relationship Type="http://schemas.openxmlformats.org/officeDocument/2006/relationships/notesMaster" Target="/ppt/notesMasters/notesMaster1.xml" Id="R4a5ddf3d0b42400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78b8ec831e44cc7" /><Relationship Type="http://schemas.openxmlformats.org/officeDocument/2006/relationships/notesMaster" Target="/ppt/notesMasters/notesMaster1.xml" Id="R8c984d8f191243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Team names and contacts supplied by the user. The user authorized role allocation for this submission on 2026-09-08. See docs/TEAM.md. Assigned roles do not certify completed contribution history. Original supplied logo retained.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https://github.com/deeps2710/MemoryForge/blob/3751264ac4eef1c5561692e67999c1d639ec658f/src/encoder.py, https://github.com/deeps2710/MemoryForge/blob/3751264ac4eef1c5561692e67999c1d639ec658f/src/lab.py, https://github.com/deeps2710/MemoryForge/blob/3751264ac4eef1c5561692e67999c1d639ec658f/artifacts/phase4_deployment.json. Public app inspected again on 2026-09-08 and shows the same preset. Screenshot captured earlier that date. Memory delta is Frobenius distance from the empty retrieval matrix. No claim of novel visual categories or learner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of truth: https://github.com/deeps2710/MemoryForge/blob/3751264ac4eef1c5561692e67999c1d639ec658f/src/fast_memory.py (_sums, _counts, _matrix, query). The toy uses class-wise averages of additive Hebbian sums, not direct additive updates to its displayed M. M rows are not renormalized. query computes row-major Q @ M.T. Only written labels can win. Exact ties use first index, flagged.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https://github.com/deeps2710/MemoryForge/blob/3751264ac4eef1c5561692e67999c1d639ec658f/app.py, https://github.com/deeps2710/MemoryForge/blob/3751264ac4eef1c5561692e67999c1d639ec658f/src/data.py, https://github.com/deeps2710/MemoryForge/blob/3751264ac4eef1c5561692e67999c1d639ec658f/src/training.py, https://github.com/deeps2710/MemoryForge/blob/3751264ac4eef1c5561692e67999c1d639ec658f/src/lab.py. 1797 rows split 1347/450 using seed42. Encoder64-32-16 + 10-class head, trained100epochs. Classifier head is training/sanity only. Cache stores frozen encoder, heldout keys and original tensor snapshots. Each browser has its own LabSession. All image data are bundled scikit-learn digits.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https://github.com/deeps2710/MemoryForge/blob/3751264ac4eef1c5561692e67999c1d639ec658f/src/ui.py and https://github.com/deeps2710/MemoryForge/blob/3751264ac4eef1c5561692e67999c1d639ec658f/src/lab.py. Actual screenshot after Teach to2shots/class,6writes27/30. Query advances through fixed30images without write. Clear zeros memory and abstains. Features also include0-10shot slider, saved research/evidence and3-question60-second check. No user learning study has been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https://github.com/deeps2710/MemoryForge/blob/3751264ac4eef1c5561692e67999c1d639ec658f/artifacts/phase3_evidence.json. Developer-produced paired suite:50seeds1000-1049,0/1/2/5/10shots;0/1/3wrongwrites atnonzero shots.650conditions19500outcomes. Bar values rounded0.01percentage point, labels0.1. Clean means94.07,95.67,96.93,98.07. Corrupt3means84.47,86.87,94.20,97.27. Clean-minus-corrupt gaps9.60,8.80,2.73,0.80pp. Fixed corruption count means different noise fractions. No independent replication.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https://github.com/deeps2710/MemoryForge/blob/3751264ac4eef1c5561692e67999c1d639ec658f/artifacts/phase2_demo.json, https://github.com/deeps2710/MemoryForge/blob/3751264ac4eef1c5561692e67999c1d639ec658f/artifacts/phase4_deployment.json, https://github.com/deeps2710/MemoryForge/blob/3751264ac4eef1c5561692e67999c1d639ec658f/src/lab.py. Conflict appends first taught digit1key toBETA, whiletrueALPHAunchanged. At2shots/class6writes27/30; conflict7writes26/30. Five predictions change, netonefewer correct. It can improve or worsen a different seed. Reset actually zeros S,c. Screenshot is the actual UI warning and measured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sources, rechecked2026-09-08: BDH https://arxiv.org/html/2509.26507v1 §§1.2,2.2; CQ https://arxiv.org/html/2608.09888v1 §§3.2-3.3; DeltaNet https://arxiv.org/html/2406.06484v3 §§2.1-2.2; Titans https://arxiv.org/html/2501.00663v1 §3. Published mechanisms only. MemoryForge implements none of these architectures. User-specified PS-1/Pathway; organizer audited docs/SUBMISSION_INSTRUCTIONS_AUDIT.md.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core-state arithmetic is derived from src/fast_memory.py:3*16+3=51float64values=408bytes, excludingencoder,derivedM,snapshots,history,keysandPythonoverhead. Dense updates/readO(Cd) forC labels,d features. No capacity orconcurrentloadstudy. Future work and sustainability are proposals requested for this presentation, not implementation commitments or current revenue. See docs/FUTURE_SCOPE.md. No pricing, customer orpartner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Team names/contacts supplied by the user. Roles newly allocated on user authorization. MIT covers original code/docs/weights, with separate logo, dataset and dependency terms. Codex assistance disclosed. Public preset read again2026-09-08. Prototype verified, competition upload not performed.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6f8c3caf6e40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eb0dc2ba1b4174" /><Relationship Type="http://schemas.openxmlformats.org/officeDocument/2006/relationships/slideLayout" Target="/ppt/slideLayouts/slideLayout1.xml" Id="R2bbf6bddbfb445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bf6bddbfb445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302d3824b44109" /><Relationship Type="http://schemas.openxmlformats.org/officeDocument/2006/relationships/image" Target="/ppt/media/image.png" Id="R42148e19bee845d7" /><Relationship Type="http://schemas.openxmlformats.org/officeDocument/2006/relationships/notesSlide" Target="/ppt/notesSlides/notesSlide1.xml" Id="R85b202b51ef7412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dd3e0ad01b49b1" /><Relationship Type="http://schemas.openxmlformats.org/officeDocument/2006/relationships/image" Target="/ppt/media/image.jpeg" Id="Rd2aa2516df4a4b3a" /><Relationship Type="http://schemas.openxmlformats.org/officeDocument/2006/relationships/notesSlide" Target="/ppt/notesSlides/notesSlide2.xml" Id="Rb119787d53b24c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b89f030845408f" /><Relationship Type="http://schemas.openxmlformats.org/officeDocument/2006/relationships/notesSlide" Target="/ppt/notesSlides/notesSlide3.xml" Id="Rabeaa96331d549f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844d940e854930" /><Relationship Type="http://schemas.openxmlformats.org/officeDocument/2006/relationships/notesSlide" Target="/ppt/notesSlides/notesSlide4.xml" Id="Rafda486e040447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fcde4218a74206" /><Relationship Type="http://schemas.openxmlformats.org/officeDocument/2006/relationships/image" Target="/ppt/media/image2.jpeg" Id="R96dacf2f0a7d43e2" /><Relationship Type="http://schemas.openxmlformats.org/officeDocument/2006/relationships/notesSlide" Target="/ppt/notesSlides/notesSlide5.xml" Id="R3786502f0f3d42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3b013f8e494c2a" /><Relationship Type="http://schemas.openxmlformats.org/officeDocument/2006/relationships/chart" Target="/ppt/slides/charts/chart1.xml" Id="Reabaea3176e04627" /><Relationship Type="http://schemas.openxmlformats.org/officeDocument/2006/relationships/notesSlide" Target="/ppt/notesSlides/notesSlide6.xml" Id="R6112ab9b0c9f41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282afebcd94eeb" /><Relationship Type="http://schemas.openxmlformats.org/officeDocument/2006/relationships/image" Target="/ppt/media/image3.jpeg" Id="R7222790402f548a4" /><Relationship Type="http://schemas.openxmlformats.org/officeDocument/2006/relationships/notesSlide" Target="/ppt/notesSlides/notesSlide7.xml" Id="Rc092362e10b14fe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3046f416fb4b13" /><Relationship Type="http://schemas.openxmlformats.org/officeDocument/2006/relationships/notesSlide" Target="/ppt/notesSlides/notesSlide8.xml" Id="Rbc3d2f87d783474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edb5d66f6844f9" /><Relationship Type="http://schemas.openxmlformats.org/officeDocument/2006/relationships/notesSlide" Target="/ppt/notesSlides/notesSlide9.xml" Id="R3533a8572b26461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1650154d404aa0" /><Relationship Type="http://schemas.openxmlformats.org/officeDocument/2006/relationships/notesSlide" Target="/ppt/notesSlides/notesSlide10.xml" Id="Rb0138731316c42e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Clean</c:v>
          </c:tx>
          <c:spPr>
            <a:solidFill xmlns:a="http://schemas.openxmlformats.org/drawingml/2006/main">
              <a:srgbClr val="456C4C"/>
            </a:solidFill>
          </c:spPr>
          <c:cat>
            <c:strRef>
              <c:f>'Chart Data'!$A$2:$A$5</c:f>
              <c:strCache>
                <c:ptCount val="4"/>
                <c:pt idx="0">
                  <c:v>1 shot</c:v>
                </c:pt>
                <c:pt idx="1">
                  <c:v>2 shots</c:v>
                </c:pt>
                <c:pt idx="2">
                  <c:v>5 shots</c:v>
                </c:pt>
                <c:pt idx="3">
                  <c:v>10 shots</c:v>
                </c:pt>
              </c:strCache>
            </c:strRef>
          </c:cat>
          <c:val>
            <c:numRef>
              <c:f>'Chart Data'!$B$2:$B$5</c:f>
              <c:numCache>
                <c:formatCode>0.0</c:formatCode>
                <c:ptCount val="4"/>
                <c:pt idx="0">
                  <c:v>94.07</c:v>
                </c:pt>
                <c:pt idx="1">
                  <c:v>95.67</c:v>
                </c:pt>
                <c:pt idx="2">
                  <c:v>96.93</c:v>
                </c:pt>
                <c:pt idx="3">
                  <c:v>98.07</c:v>
                </c:pt>
              </c:numCache>
            </c:numRef>
          </c:val>
        </c:ser>
        <c:ser>
          <c:idx val="1"/>
          <c:order val="1"/>
          <c:tx>
            <c:v>3 wrong-label writes</c:v>
          </c:tx>
          <c:spPr>
            <a:solidFill xmlns:a="http://schemas.openxmlformats.org/drawingml/2006/main">
              <a:srgbClr val="996027"/>
            </a:solidFill>
          </c:spPr>
          <c:cat>
            <c:strRef>
              <c:f>'Chart Data'!$C$2:$C$5</c:f>
              <c:strCache>
                <c:ptCount val="4"/>
                <c:pt idx="0">
                  <c:v>1 shot</c:v>
                </c:pt>
                <c:pt idx="1">
                  <c:v>2 shots</c:v>
                </c:pt>
                <c:pt idx="2">
                  <c:v>5 shots</c:v>
                </c:pt>
                <c:pt idx="3">
                  <c:v>10 shots</c:v>
                </c:pt>
              </c:strCache>
            </c:strRef>
          </c:cat>
          <c:val>
            <c:numRef>
              <c:f>'Chart Data'!$D$2:$D$5</c:f>
              <c:numCache>
                <c:formatCode>0.0</c:formatCode>
                <c:ptCount val="4"/>
                <c:pt idx="0">
                  <c:v>84.47</c:v>
                </c:pt>
                <c:pt idx="1">
                  <c:v>86.87</c:v>
                </c:pt>
                <c:pt idx="2">
                  <c:v>94.2</c:v>
                </c:pt>
                <c:pt idx="3">
                  <c:v>97.27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5F3E9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5F3E9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3911F8-D396-4490-92FD-15CAFC47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75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754"/>
                </a:solidFill>
                <a:latin typeface="Arial"/>
                <a:ea typeface="Arial"/>
                <a:cs typeface="Arial"/>
              </a:rPr>
              <a:t>MemoryForge  /  DataForge 2026                                     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CB4BF7-6156-42CC-A6A0-46EA5185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0191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456C4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456C4C"/>
                </a:solidFill>
                <a:latin typeface="Arial"/>
                <a:ea typeface="Arial"/>
                <a:cs typeface="Arial"/>
              </a:rPr>
              <a:t>DataForge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A8F9B3-A045-4822-B933-D91E3519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95250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173E35"/>
                </a:solidFill>
                <a:latin typeface="Arial"/>
                <a:ea typeface="Arial"/>
                <a:cs typeface="Arial"/>
              </a:rPr>
              <a:t>MemoryForge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EBC6CC-F0D4-453A-BA74-7808CB5F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263F35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263F35"/>
                </a:solidFill>
                <a:latin typeface="Arial"/>
                <a:ea typeface="Arial"/>
                <a:cs typeface="Arial"/>
              </a:rPr>
              <a:t>Associative Memory &amp; Fast Weights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B4658A-4FF8-41B1-8ECC-1BC944B9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14675"/>
            <a:ext cx="10191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456C4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456C4C"/>
                </a:solidFill>
                <a:latin typeface="Arial"/>
                <a:ea typeface="Arial"/>
                <a:cs typeface="Arial"/>
              </a:rPr>
              <a:t>PS-1 — Pathway Track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EB2C99-EFDE-41F1-881A-C8A38052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8620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3E35"/>
                </a:solidFill>
                <a:latin typeface="Arial"/>
                <a:ea typeface="Arial"/>
                <a:cs typeface="Arial"/>
              </a:rPr>
              <a:t>Team BitWise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EB769F-E8A0-4BF4-9D3A-E61EEBFC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0"/>
            <a:ext cx="409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8675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86754"/>
                </a:solidFill>
                <a:latin typeface="Arial"/>
                <a:ea typeface="Arial"/>
                <a:cs typeface="Arial"/>
              </a:rPr>
              <a:t>MEMBER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87192F-030B-4496-81E5-497977CD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572000"/>
            <a:ext cx="6334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8675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86754"/>
                </a:solidFill>
                <a:latin typeface="Arial"/>
                <a:ea typeface="Arial"/>
                <a:cs typeface="Arial"/>
              </a:rPr>
              <a:t>ASSIGNED RESPONSIBILITIES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D2EFF6-7BF5-44A9-8E02-5DDAD7FC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8157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E35"/>
                </a:solidFill>
                <a:latin typeface="Arial"/>
                <a:ea typeface="Arial"/>
                <a:cs typeface="Arial"/>
              </a:rPr>
              <a:t>Ved Patel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0EA4E0-1788-437B-A966-D8FE4A13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953000"/>
            <a:ext cx="6334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63F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F35"/>
                </a:solidFill>
                <a:latin typeface="Arial"/>
                <a:ea typeface="Arial"/>
                <a:cs typeface="Arial"/>
              </a:rPr>
              <a:t>ML engineering, application development,</a:t>
            </a:r>
          </a:p>
          <a:p xmlns:a="http://schemas.openxmlformats.org/drawingml/2006/main">
            <a:pPr algn="l">
              <a:defRPr sz="2025" b="0">
                <a:solidFill>
                  <a:srgbClr val="263F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F35"/>
                </a:solidFill>
                <a:latin typeface="Arial"/>
                <a:ea typeface="Arial"/>
                <a:cs typeface="Arial"/>
              </a:rPr>
              <a:t>evaluation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F43F52-59C9-406F-90C7-BE0AF114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34050"/>
            <a:ext cx="4095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E35"/>
                </a:solidFill>
                <a:latin typeface="Arial"/>
                <a:ea typeface="Arial"/>
                <a:cs typeface="Arial"/>
              </a:rPr>
              <a:t>Deepshikha Rani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9EC21F-75A2-4A58-9A81-03563A3C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753100"/>
            <a:ext cx="633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63F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F35"/>
                </a:solidFill>
                <a:latin typeface="Arial"/>
                <a:ea typeface="Arial"/>
                <a:cs typeface="Arial"/>
              </a:rPr>
              <a:t>Research, technical writing, presentation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148e19bee845d7"/>
          <a:stretch xmlns:a="http://schemas.openxmlformats.org/drawingml/2006/main"/>
        </p:blipFill>
        <p:spPr>
          <a:xfrm xmlns:a="http://schemas.openxmlformats.org/drawingml/2006/main">
            <a:off x="10239375" y="1343025"/>
            <a:ext cx="1381125" cy="1381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2711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8D1141-B45D-4CD8-8533-6AE2992B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E35"/>
                </a:solidFill>
                <a:latin typeface="Arial"/>
                <a:ea typeface="Arial"/>
                <a:cs typeface="Arial"/>
              </a:rPr>
              <a:t>Learning an association without retraining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C0C8DA-4090-4DDD-B9BB-7B85FFDE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75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754"/>
                </a:solidFill>
                <a:latin typeface="Arial"/>
                <a:ea typeface="Arial"/>
                <a:cs typeface="Arial"/>
              </a:rPr>
              <a:t>MemoryForge  /  DataForge 2026                                     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EB7C5B-1059-47AC-8A60-E714B91C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7217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75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754"/>
                </a:solidFill>
                <a:latin typeface="Arial"/>
                <a:ea typeface="Arial"/>
                <a:cs typeface="Arial"/>
              </a:rPr>
              <a:t>Working CPU prototype. Seed 1000 preset: 3 writes and 23/30 fixed queries correct.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3740B1-D642-495E-ADFA-1DD3DA34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6207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E35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19C3B2-943A-4A0A-8750-06BE9605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85762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63F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F35"/>
                </a:solidFill>
                <a:latin typeface="Arial"/>
                <a:ea typeface="Arial"/>
                <a:cs typeface="Arial"/>
              </a:rPr>
              <a:t>A changed prediction does not</a:t>
            </a:r>
          </a:p>
          <a:p xmlns:a="http://schemas.openxmlformats.org/drawingml/2006/main">
            <a:pPr algn="l">
              <a:defRPr sz="2100" b="0">
                <a:solidFill>
                  <a:srgbClr val="263F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F35"/>
                </a:solidFill>
                <a:latin typeface="Arial"/>
                <a:ea typeface="Arial"/>
                <a:cs typeface="Arial"/>
              </a:rPr>
              <a:t>show what the model learned.</a:t>
            </a:r>
          </a:p>
          <a:p xmlns:a="http://schemas.openxmlformats.org/drawingml/2006/main">
            <a:pPr algn="l">
              <a:defRPr sz="2100" b="0">
                <a:solidFill>
                  <a:srgbClr val="263F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F35"/>
                </a:solidFill>
                <a:latin typeface="Arial"/>
                <a:ea typeface="Arial"/>
                <a:cs typeface="Arial"/>
              </a:rPr>
              <a:t>MemoryForge exposes the</a:t>
            </a:r>
          </a:p>
          <a:p xmlns:a="http://schemas.openxmlformats.org/drawingml/2006/main">
            <a:pPr algn="l">
              <a:defRPr sz="2100" b="0">
                <a:solidFill>
                  <a:srgbClr val="263F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F35"/>
                </a:solidFill>
                <a:latin typeface="Arial"/>
                <a:ea typeface="Arial"/>
                <a:cs typeface="Arial"/>
              </a:rPr>
              <a:t>state that changed.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8FA737-79FB-4983-9172-2D703E92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38550"/>
            <a:ext cx="3762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Encoder parameter delta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E866E9-BE43-423E-9AF2-402C0B4F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29075"/>
            <a:ext cx="3524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025" b="1">
                <a:solidFill>
                  <a:srgbClr val="456C4C"/>
                </a:solidFill>
                <a:latin typeface="Arial"/>
                <a:ea typeface="Arial"/>
                <a:cs typeface="Arial"/>
              </a:defRPr>
            </a:pPr>
            <a:r>
              <a:rPr sz="5025" b="1">
                <a:solidFill>
                  <a:srgbClr val="456C4C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E62306-4CD0-43E8-8492-30A4CF07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3762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E35"/>
                </a:solidFill>
                <a:latin typeface="Arial"/>
                <a:ea typeface="Arial"/>
                <a:cs typeface="Arial"/>
              </a:rPr>
              <a:t>Fast-memory delta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995BCB-B7B3-4FCC-ABD3-22CBB54D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72075"/>
            <a:ext cx="3905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996027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996027"/>
                </a:solidFill>
                <a:latin typeface="Arial"/>
                <a:ea typeface="Arial"/>
                <a:cs typeface="Arial"/>
              </a:rPr>
              <a:t>1.73205 &gt; 0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aa2516df4a4b3a"/>
          <a:stretch xmlns:a="http://schemas.openxmlformats.org/drawingml/2006/main"/>
        </p:blipFill>
        <p:spPr>
          <a:xfrm xmlns:a="http://schemas.openxmlformats.org/drawingml/2006/main">
            <a:off x="4495800" y="1563291"/>
            <a:ext cx="7124700" cy="400764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3193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318E26-28AF-42AF-961D-F0B3287B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E35"/>
                </a:solidFill>
                <a:latin typeface="Arial"/>
                <a:ea typeface="Arial"/>
                <a:cs typeface="Arial"/>
              </a:rPr>
              <a:t>The write rule and the retrieval rule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9E29FE-9BAF-491B-8C94-A977A5FD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75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754"/>
                </a:solidFill>
                <a:latin typeface="Arial"/>
                <a:ea typeface="Arial"/>
                <a:cs typeface="Arial"/>
              </a:rPr>
              <a:t>MemoryForge  /  DataForge 2026                                     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2551FF-6570-48F5-946A-0AF8A460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7217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75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754"/>
                </a:solidFill>
                <a:latin typeface="Arial"/>
                <a:ea typeface="Arial"/>
                <a:cs typeface="Arial"/>
              </a:rPr>
              <a:t>Empty memory abstains. Scores are similarities, not calibrated probabilities.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6ED404-B39B-486A-A5F2-74DD4B7E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56C4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56C4C"/>
                </a:solidFill>
                <a:latin typeface="Arial"/>
                <a:ea typeface="Arial"/>
                <a:cs typeface="Arial"/>
              </a:rPr>
              <a:t>WRITE A DEMONSTRATION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DB1375-46A4-4E40-977D-29979DE9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33575"/>
            <a:ext cx="6096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73E35"/>
                </a:solidFill>
                <a:latin typeface="Arial"/>
                <a:ea typeface="Arial"/>
                <a:cs typeface="Arial"/>
              </a:rPr>
              <a:t>S ← S + v kᵀ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096899-827C-40AB-ACCB-AB148D0A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09850"/>
            <a:ext cx="6096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E35"/>
                </a:solidFill>
                <a:latin typeface="Arial"/>
                <a:ea typeface="Arial"/>
                <a:cs typeface="Arial"/>
              </a:rPr>
              <a:t>c ← c + 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56715C-3C5C-433B-9EDA-9BEFAEE9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81375"/>
            <a:ext cx="609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73E35"/>
                </a:solidFill>
                <a:latin typeface="Arial"/>
                <a:ea typeface="Arial"/>
                <a:cs typeface="Arial"/>
              </a:rPr>
              <a:t>M[i] = S[i] / c[i]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2DFE12-D68D-4761-9C5D-D099E859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90975"/>
            <a:ext cx="609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8675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86754"/>
                </a:solidFill>
                <a:latin typeface="Arial"/>
                <a:ea typeface="Arial"/>
                <a:cs typeface="Arial"/>
              </a:rPr>
              <a:t>Zero row when c[i] = 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F72B9D-C639-4DB2-A419-9E3AD806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0"/>
            <a:ext cx="6096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56C4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56C4C"/>
                </a:solidFill>
                <a:latin typeface="Arial"/>
                <a:ea typeface="Arial"/>
                <a:cs typeface="Arial"/>
              </a:rPr>
              <a:t>READ A QUERY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E1A7D2-5431-40E3-BB7D-3E1ACC0F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67300"/>
            <a:ext cx="609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73E35"/>
                </a:solidFill>
                <a:latin typeface="Arial"/>
                <a:ea typeface="Arial"/>
                <a:cs typeface="Arial"/>
              </a:rPr>
              <a:t>scores = Mq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7BEB49-3DB9-4DBF-9111-4F6AD64D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66850"/>
            <a:ext cx="4391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E35"/>
                </a:solidFill>
                <a:latin typeface="Arial"/>
                <a:ea typeface="Arial"/>
                <a:cs typeface="Arial"/>
              </a:rPr>
              <a:t>What the symbols mean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13B97E-3A76-4294-A61B-C611CB16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43910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63F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F35"/>
                </a:solidFill>
                <a:latin typeface="Arial"/>
                <a:ea typeface="Arial"/>
                <a:cs typeface="Arial"/>
              </a:rPr>
              <a:t>k and q: unit 16-D embeddings</a:t>
            </a:r>
          </a:p>
          <a:p xmlns:a="http://schemas.openxmlformats.org/drawingml/2006/main">
            <a:pPr algn="l">
              <a:defRPr sz="2100" b="0">
                <a:solidFill>
                  <a:srgbClr val="263F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F35"/>
                </a:solidFill>
                <a:latin typeface="Arial"/>
                <a:ea typeface="Arial"/>
                <a:cs typeface="Arial"/>
              </a:rPr>
              <a:t>v: one-hot temporary label</a:t>
            </a:r>
          </a:p>
          <a:p xmlns:a="http://schemas.openxmlformats.org/drawingml/2006/main">
            <a:pPr algn="l">
              <a:defRPr sz="2100" b="0">
                <a:solidFill>
                  <a:srgbClr val="263F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F35"/>
                </a:solidFill>
                <a:latin typeface="Arial"/>
                <a:ea typeface="Arial"/>
                <a:cs typeface="Arial"/>
              </a:rPr>
              <a:t>S: key sums, c: write counts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FF9B19-8078-43FD-A05D-5C2E8641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29025"/>
            <a:ext cx="4391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E35"/>
                </a:solidFill>
                <a:latin typeface="Arial"/>
                <a:ea typeface="Arial"/>
                <a:cs typeface="Arial"/>
              </a:rPr>
              <a:t>What changes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93F199-2650-4E81-A6C6-1CD54720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86225"/>
            <a:ext cx="43910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63F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F35"/>
                </a:solidFill>
                <a:latin typeface="Arial"/>
                <a:ea typeface="Arial"/>
                <a:cs typeface="Arial"/>
              </a:rPr>
              <a:t>S and c change when taught.</a:t>
            </a:r>
          </a:p>
          <a:p xmlns:a="http://schemas.openxmlformats.org/drawingml/2006/main">
            <a:pPr algn="l">
              <a:defRPr sz="2100" b="0">
                <a:solidFill>
                  <a:srgbClr val="263F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F35"/>
                </a:solidFill>
                <a:latin typeface="Arial"/>
                <a:ea typeface="Arial"/>
                <a:cs typeface="Arial"/>
              </a:rPr>
              <a:t>M holds one mean per label.</a:t>
            </a:r>
          </a:p>
          <a:p xmlns:a="http://schemas.openxmlformats.org/drawingml/2006/main">
            <a:pPr algn="l">
              <a:defRPr sz="2100" b="0">
                <a:solidFill>
                  <a:srgbClr val="263F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F35"/>
                </a:solidFill>
                <a:latin typeface="Arial"/>
                <a:ea typeface="Arial"/>
                <a:cs typeface="Arial"/>
              </a:rPr>
              <a:t>Encoder tensors remain fixed.</a:t>
            </a:r>
          </a:p>
        </p:txBody>
      </p:sp>
    </p:spTree>
    <p:extLst>
      <p:ext uri="{BB962C8B-B14F-4D97-AF65-F5344CB8AC3E}">
        <p14:creationId xmlns:p14="http://schemas.microsoft.com/office/powerpoint/2010/main" val="8628185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9934E3-BB37-468A-9F63-3C88F950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E35"/>
                </a:solidFill>
                <a:latin typeface="Arial"/>
                <a:ea typeface="Arial"/>
                <a:cs typeface="Arial"/>
              </a:rPr>
              <a:t>Architecture of the working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2B097C-BFBC-4354-9EEF-3DDD6459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75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754"/>
                </a:solidFill>
                <a:latin typeface="Arial"/>
                <a:ea typeface="Arial"/>
                <a:cs typeface="Arial"/>
              </a:rPr>
              <a:t>MemoryForge  /  DataForge 2026                                     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998F59-358D-4FD6-80F7-3FD15231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7217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75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754"/>
                </a:solidFill>
                <a:latin typeface="Arial"/>
                <a:ea typeface="Arial"/>
                <a:cs typeface="Arial"/>
              </a:rPr>
              <a:t>No model API or database. Session reload clears memory. Detailed DFD: docs/DATA_FLOW.md.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4C3A00-8408-4A49-B477-5F04AFC9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7160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56C4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56C4C"/>
                </a:solidFill>
                <a:latin typeface="Arial"/>
                <a:ea typeface="Arial"/>
                <a:cs typeface="Arial"/>
              </a:rPr>
              <a:t>Offline preparation</a:t>
            </a:r>
          </a:p>
        </p:txBody>
      </p:sp>
      <p:sp>
        <p:nvSpPr>
          <p:cNvPr id="5" name="train">
            <a:extLst xmlns:a="http://schemas.openxmlformats.org/drawingml/2006/main">
              <a:ext uri="{FF2B5EF4-FFF2-40B4-BE49-F238E27FC236}">
                <a16:creationId xmlns:a16="http://schemas.microsoft.com/office/drawing/2014/main" id="{48494293-6117-4E56-B80D-B06B8F72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32099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D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3E35"/>
                </a:solidFill>
                <a:latin typeface="Arial"/>
                <a:ea typeface="Arial"/>
                <a:cs typeface="Arial"/>
              </a:rPr>
              <a:t>1,347 training images</a:t>
            </a:r>
          </a:p>
        </p:txBody>
      </p:sp>
      <p:sp>
        <p:nvSpPr>
          <p:cNvPr id="6" name="learn">
            <a:extLst xmlns:a="http://schemas.openxmlformats.org/drawingml/2006/main">
              <a:ext uri="{FF2B5EF4-FFF2-40B4-BE49-F238E27FC236}">
                <a16:creationId xmlns:a16="http://schemas.microsoft.com/office/drawing/2014/main" id="{6A24504F-354A-46F3-9A1B-05722894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905000"/>
            <a:ext cx="32099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D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3E35"/>
                </a:solidFill>
                <a:latin typeface="Arial"/>
                <a:ea typeface="Arial"/>
                <a:cs typeface="Arial"/>
              </a:rPr>
              <a:t>Train 64–32–16 encoder</a:t>
            </a:r>
          </a:p>
        </p:txBody>
      </p:sp>
      <p:sp>
        <p:nvSpPr>
          <p:cNvPr id="7" name="checkpoint">
            <a:extLst xmlns:a="http://schemas.openxmlformats.org/drawingml/2006/main">
              <a:ext uri="{FF2B5EF4-FFF2-40B4-BE49-F238E27FC236}">
                <a16:creationId xmlns:a16="http://schemas.microsoft.com/office/drawing/2014/main" id="{132442D3-219D-4209-BCD3-237CB778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05000"/>
            <a:ext cx="32194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D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3E35"/>
                </a:solidFill>
                <a:latin typeface="Arial"/>
                <a:ea typeface="Arial"/>
                <a:cs typeface="Arial"/>
              </a:rPr>
              <a:t>Save checkpoint + freeze</a:t>
            </a:r>
          </a:p>
        </p:txBody>
      </p:sp>
      <p:cxnSp>
        <p:nvCxnSpPr>
          <p:cNvPr id="2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781425" y="2357438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56C4C"/>
            </a:solidFill>
            <a:tailEnd type="triangle" w="med" len="med"/>
          </a:ln>
        </p:spPr>
      </p:cxnSp>
      <p:cxnSp>
        <p:nvCxnSpPr>
          <p:cNvPr id="2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696200" y="2357438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56C4C"/>
            </a:solidFill>
            <a:tailEnd type="triangle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2AA473-9DE7-44F1-8B0C-7E125E45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71825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56C4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56C4C"/>
                </a:solidFill>
                <a:latin typeface="Arial"/>
                <a:ea typeface="Arial"/>
                <a:cs typeface="Arial"/>
              </a:rPr>
              <a:t>Runtime on CPU: 450 held-out images</a:t>
            </a:r>
          </a:p>
        </p:txBody>
      </p:sp>
      <p:sp>
        <p:nvSpPr>
          <p:cNvPr id="11" name="heldout">
            <a:extLst xmlns:a="http://schemas.openxmlformats.org/drawingml/2006/main">
              <a:ext uri="{FF2B5EF4-FFF2-40B4-BE49-F238E27FC236}">
                <a16:creationId xmlns:a16="http://schemas.microsoft.com/office/drawing/2014/main" id="{79143615-7943-4326-A269-E79ECA21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33800"/>
            <a:ext cx="235267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D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3E35"/>
                </a:solidFill>
                <a:latin typeface="Arial"/>
                <a:ea typeface="Arial"/>
                <a:cs typeface="Arial"/>
              </a:rPr>
              <a:t>Disjoint supports</a:t>
            </a:r>
          </a:p>
          <a:p xmlns:a="http://schemas.openxmlformats.org/drawingml/2006/main">
            <a:pPr algn="ctr">
              <a:defRPr sz="195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3E35"/>
                </a:solidFill>
                <a:latin typeface="Arial"/>
                <a:ea typeface="Arial"/>
                <a:cs typeface="Arial"/>
              </a:rPr>
              <a:t>and queries</a:t>
            </a:r>
          </a:p>
        </p:txBody>
      </p:sp>
      <p:sp>
        <p:nvSpPr>
          <p:cNvPr id="12" name="embed">
            <a:extLst xmlns:a="http://schemas.openxmlformats.org/drawingml/2006/main">
              <a:ext uri="{FF2B5EF4-FFF2-40B4-BE49-F238E27FC236}">
                <a16:creationId xmlns:a16="http://schemas.microsoft.com/office/drawing/2014/main" id="{CFFEF233-6665-4731-A3F7-37AA7653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733800"/>
            <a:ext cx="235267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D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3E35"/>
                </a:solidFill>
                <a:latin typeface="Arial"/>
                <a:ea typeface="Arial"/>
                <a:cs typeface="Arial"/>
              </a:rPr>
              <a:t>Frozen encoder</a:t>
            </a:r>
          </a:p>
          <a:p xmlns:a="http://schemas.openxmlformats.org/drawingml/2006/main">
            <a:pPr algn="ctr">
              <a:defRPr sz="195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3E35"/>
                </a:solidFill>
                <a:latin typeface="Arial"/>
                <a:ea typeface="Arial"/>
                <a:cs typeface="Arial"/>
              </a:rPr>
              <a:t>unit embeddings</a:t>
            </a:r>
          </a:p>
        </p:txBody>
      </p:sp>
      <p:sp>
        <p:nvSpPr>
          <p:cNvPr id="13" name="memory">
            <a:extLst xmlns:a="http://schemas.openxmlformats.org/drawingml/2006/main">
              <a:ext uri="{FF2B5EF4-FFF2-40B4-BE49-F238E27FC236}">
                <a16:creationId xmlns:a16="http://schemas.microsoft.com/office/drawing/2014/main" id="{FA058E91-0133-4A3A-94A1-A8A1A5FA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33800"/>
            <a:ext cx="235267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D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3E35"/>
                </a:solidFill>
                <a:latin typeface="Arial"/>
                <a:ea typeface="Arial"/>
                <a:cs typeface="Arial"/>
              </a:rPr>
              <a:t>Session memory</a:t>
            </a:r>
          </a:p>
          <a:p xmlns:a="http://schemas.openxmlformats.org/drawingml/2006/main">
            <a:pPr algn="ctr">
              <a:defRPr sz="195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3E35"/>
                </a:solidFill>
                <a:latin typeface="Arial"/>
                <a:ea typeface="Arial"/>
                <a:cs typeface="Arial"/>
              </a:rPr>
              <a:t>S, c and Mq</a:t>
            </a:r>
          </a:p>
        </p:txBody>
      </p:sp>
      <p:sp>
        <p:nvSpPr>
          <p:cNvPr id="14" name="ui">
            <a:extLst xmlns:a="http://schemas.openxmlformats.org/drawingml/2006/main">
              <a:ext uri="{FF2B5EF4-FFF2-40B4-BE49-F238E27FC236}">
                <a16:creationId xmlns:a16="http://schemas.microsoft.com/office/drawing/2014/main" id="{388D8CEA-DC3E-4BB4-B924-309B0A4D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733800"/>
            <a:ext cx="234315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D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3E35"/>
                </a:solidFill>
                <a:latin typeface="Arial"/>
                <a:ea typeface="Arial"/>
                <a:cs typeface="Arial"/>
              </a:rPr>
              <a:t>Streamlit UI</a:t>
            </a:r>
          </a:p>
          <a:p xmlns:a="http://schemas.openxmlformats.org/drawingml/2006/main">
            <a:pPr algn="ctr">
              <a:defRPr sz="1950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3E35"/>
                </a:solidFill>
                <a:latin typeface="Arial"/>
                <a:ea typeface="Arial"/>
                <a:cs typeface="Arial"/>
              </a:rPr>
              <a:t>audit + feedback</a:t>
            </a:r>
          </a:p>
        </p:txBody>
      </p:sp>
      <p:cxnSp>
        <p:nvCxnSpPr>
          <p:cNvPr id="33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924175" y="4252913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56C4C"/>
            </a:solidFill>
            <a:tailEnd type="triangle" w="med" len="med"/>
          </a:ln>
        </p:spPr>
      </p:cxnSp>
      <p:cxnSp>
        <p:nvCxnSpPr>
          <p:cNvPr id="34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819775" y="4252913"/>
            <a:ext cx="561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56C4C"/>
            </a:solidFill>
            <a:tailEnd type="triangle" w="med" len="med"/>
          </a:ln>
        </p:spPr>
      </p:cxnSp>
      <p:cxnSp>
        <p:nvCxnSpPr>
          <p:cNvPr id="35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734425" y="4252913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56C4C"/>
            </a:solidFill>
            <a:tailEnd type="triangle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CC0D23-4ED3-44D0-9942-BD40763B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292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E35"/>
                </a:solidFill>
                <a:latin typeface="Arial"/>
                <a:ea typeface="Arial"/>
                <a:cs typeface="Arial"/>
              </a:rPr>
              <a:t>Python 3.12 / PyTorch / scikit-learn / NumPy / Streamlit / Plotly</a:t>
            </a:r>
          </a:p>
        </p:txBody>
      </p:sp>
    </p:spTree>
    <p:extLst>
      <p:ext uri="{BB962C8B-B14F-4D97-AF65-F5344CB8AC3E}">
        <p14:creationId xmlns:p14="http://schemas.microsoft.com/office/powerpoint/2010/main" val="6702408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04F45C-F44F-4C21-B76D-C00B4A49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E35"/>
                </a:solidFill>
                <a:latin typeface="Arial"/>
                <a:ea typeface="Arial"/>
                <a:cs typeface="Arial"/>
              </a:rPr>
              <a:t>A learner can inspect each state change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F0371F-BE95-493B-A975-4FA10176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75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754"/>
                </a:solidFill>
                <a:latin typeface="Arial"/>
                <a:ea typeface="Arial"/>
                <a:cs typeface="Arial"/>
              </a:rPr>
              <a:t>MemoryForge  /  DataForge 2026                                     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400937-AEFB-4773-A36D-686802C9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7217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75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754"/>
                </a:solidFill>
                <a:latin typeface="Arial"/>
                <a:ea typeface="Arial"/>
                <a:cs typeface="Arial"/>
              </a:rPr>
              <a:t>Guided lab, Playground, sourced research, and a 60-second concept check are implemented.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dacf2f0a7d43e2"/>
          <a:stretch xmlns:a="http://schemas.openxmlformats.org/drawingml/2006/main"/>
        </p:blipFill>
        <p:spPr>
          <a:xfrm xmlns:a="http://schemas.openxmlformats.org/drawingml/2006/main">
            <a:off x="571500" y="1505248"/>
            <a:ext cx="7381875" cy="415230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644D7E-72A1-4CE0-B90D-7B0DB210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81150"/>
            <a:ext cx="3305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E35"/>
                </a:solidFill>
                <a:latin typeface="Arial"/>
                <a:ea typeface="Arial"/>
                <a:cs typeface="Arial"/>
              </a:rPr>
              <a:t>1  Teach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940E05-720B-49CD-94EC-1E900F05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38350"/>
            <a:ext cx="3305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63F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F35"/>
                </a:solidFill>
                <a:latin typeface="Arial"/>
                <a:ea typeface="Arial"/>
                <a:cs typeface="Arial"/>
              </a:rPr>
              <a:t>Add one support per class.</a:t>
            </a:r>
          </a:p>
          <a:p xmlns:a="http://schemas.openxmlformats.org/drawingml/2006/main">
            <a:pPr algn="l">
              <a:defRPr sz="2100" b="0">
                <a:solidFill>
                  <a:srgbClr val="263F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F35"/>
                </a:solidFill>
                <a:latin typeface="Arial"/>
                <a:ea typeface="Arial"/>
                <a:cs typeface="Arial"/>
              </a:rPr>
              <a:t>S, c and M update.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FBDA49-E9BA-4E3A-9B45-BCD1A17E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14675"/>
            <a:ext cx="3305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E35"/>
                </a:solidFill>
                <a:latin typeface="Arial"/>
                <a:ea typeface="Arial"/>
                <a:cs typeface="Arial"/>
              </a:rPr>
              <a:t>2  Test Query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1FB9C2-2F36-46DA-BC1E-41D0F75C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571875"/>
            <a:ext cx="3305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63F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F35"/>
                </a:solidFill>
                <a:latin typeface="Arial"/>
                <a:ea typeface="Arial"/>
                <a:cs typeface="Arial"/>
              </a:rPr>
              <a:t>Read Mq on a held-out image.</a:t>
            </a:r>
          </a:p>
          <a:p xmlns:a="http://schemas.openxmlformats.org/drawingml/2006/main">
            <a:pPr algn="l">
              <a:defRPr sz="2100" b="0">
                <a:solidFill>
                  <a:srgbClr val="263F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F35"/>
                </a:solidFill>
                <a:latin typeface="Arial"/>
                <a:ea typeface="Arial"/>
                <a:cs typeface="Arial"/>
              </a:rPr>
              <a:t>Memory stays unchanged.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F85D2D-611B-4E9D-AF3A-3162A3CC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695825"/>
            <a:ext cx="3305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E35"/>
                </a:solidFill>
                <a:latin typeface="Arial"/>
                <a:ea typeface="Arial"/>
                <a:cs typeface="Arial"/>
              </a:rPr>
              <a:t>3  Clear Memory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055810-57AB-47CF-A1D7-D4008D56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153025"/>
            <a:ext cx="33051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63F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F35"/>
                </a:solidFill>
                <a:latin typeface="Arial"/>
                <a:ea typeface="Arial"/>
                <a:cs typeface="Arial"/>
              </a:rPr>
              <a:t>Zero the memory.</a:t>
            </a:r>
          </a:p>
          <a:p xmlns:a="http://schemas.openxmlformats.org/drawingml/2006/main">
            <a:pPr algn="l">
              <a:defRPr sz="2100" b="0">
                <a:solidFill>
                  <a:srgbClr val="263F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F35"/>
                </a:solidFill>
                <a:latin typeface="Arial"/>
                <a:ea typeface="Arial"/>
                <a:cs typeface="Arial"/>
              </a:rPr>
              <a:t>The predictor abstains.</a:t>
            </a:r>
          </a:p>
        </p:txBody>
      </p:sp>
    </p:spTree>
    <p:extLst>
      <p:ext uri="{BB962C8B-B14F-4D97-AF65-F5344CB8AC3E}">
        <p14:creationId xmlns:p14="http://schemas.microsoft.com/office/powerpoint/2010/main" val="18448038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7FBBF3-216C-4794-8B7D-F23EECFC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E35"/>
                </a:solidFill>
                <a:latin typeface="Arial"/>
                <a:ea typeface="Arial"/>
                <a:cs typeface="Arial"/>
              </a:rPr>
              <a:t>More support reduces average conflict damage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92B7ED-8DA4-4505-AEDF-51D7C780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75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754"/>
                </a:solidFill>
                <a:latin typeface="Arial"/>
                <a:ea typeface="Arial"/>
                <a:cs typeface="Arial"/>
              </a:rPr>
              <a:t>MemoryForge  /  DataForge 2026                                     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28E7DC-F899-49C7-A122-D9E31839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7217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75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754"/>
                </a:solidFill>
                <a:latin typeface="Arial"/>
                <a:ea typeface="Arial"/>
                <a:cs typeface="Arial"/>
              </a:rPr>
              <a:t>Developer evaluation. Shared images and unequal corruption fractions limit the comparison.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2381BB-77DA-4783-94DF-9A13E66D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714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E35"/>
                </a:solidFill>
                <a:latin typeface="Arial"/>
                <a:ea typeface="Arial"/>
                <a:cs typeface="Arial"/>
              </a:rPr>
              <a:t>Mean query accuracy (%)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04825" y="1933575"/>
          <a:ext xmlns:a="http://schemas.openxmlformats.org/drawingml/2006/main" cx="7343775" cy="3657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abaea3176e04627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B7C0E6-8781-4FE7-B44F-3BCF925E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571625"/>
            <a:ext cx="331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E35"/>
                </a:solidFill>
                <a:latin typeface="Arial"/>
                <a:ea typeface="Arial"/>
                <a:cs typeface="Arial"/>
              </a:rPr>
              <a:t>50 fixed seeds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8AF7C5-6DF8-45A0-B043-D2BF63DC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28825"/>
            <a:ext cx="33147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63F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F35"/>
                </a:solidFill>
                <a:latin typeface="Arial"/>
                <a:ea typeface="Arial"/>
                <a:cs typeface="Arial"/>
              </a:rPr>
              <a:t>650 conditions</a:t>
            </a:r>
          </a:p>
          <a:p xmlns:a="http://schemas.openxmlformats.org/drawingml/2006/main">
            <a:pPr algn="l">
              <a:defRPr sz="2025" b="0">
                <a:solidFill>
                  <a:srgbClr val="263F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F35"/>
                </a:solidFill>
                <a:latin typeface="Arial"/>
                <a:ea typeface="Arial"/>
                <a:cs typeface="Arial"/>
              </a:rPr>
              <a:t>19,500 query outcomes</a:t>
            </a:r>
          </a:p>
          <a:p xmlns:a="http://schemas.openxmlformats.org/drawingml/2006/main">
            <a:pPr algn="l">
              <a:defRPr sz="2025" b="0">
                <a:solidFill>
                  <a:srgbClr val="263F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F35"/>
                </a:solidFill>
                <a:latin typeface="Arial"/>
                <a:ea typeface="Arial"/>
                <a:cs typeface="Arial"/>
              </a:rPr>
              <a:t>Encoder delta = 0 throughout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1B7847-F690-4A99-9481-A3CF64D8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29050"/>
            <a:ext cx="331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E35"/>
                </a:solidFill>
                <a:latin typeface="Arial"/>
                <a:ea typeface="Arial"/>
                <a:cs typeface="Arial"/>
              </a:rPr>
              <a:t>A limit worth testing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EC1AE6-9F44-4F00-900E-677663DB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86250"/>
            <a:ext cx="33147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63F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F35"/>
                </a:solidFill>
                <a:latin typeface="Arial"/>
                <a:ea typeface="Arial"/>
                <a:cs typeface="Arial"/>
              </a:rPr>
              <a:t>More shots can hurt one seed.</a:t>
            </a:r>
          </a:p>
          <a:p xmlns:a="http://schemas.openxmlformats.org/drawingml/2006/main">
            <a:pPr algn="l">
              <a:defRPr sz="2025" b="0">
                <a:solidFill>
                  <a:srgbClr val="263F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F35"/>
                </a:solidFill>
                <a:latin typeface="Arial"/>
                <a:ea typeface="Arial"/>
                <a:cs typeface="Arial"/>
              </a:rPr>
              <a:t>No novel-category or</a:t>
            </a:r>
          </a:p>
          <a:p xmlns:a="http://schemas.openxmlformats.org/drawingml/2006/main">
            <a:pPr algn="l">
              <a:defRPr sz="2025" b="0">
                <a:solidFill>
                  <a:srgbClr val="263F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F35"/>
                </a:solidFill>
                <a:latin typeface="Arial"/>
                <a:ea typeface="Arial"/>
                <a:cs typeface="Arial"/>
              </a:rPr>
              <a:t>concurrent-load evaluation.</a:t>
            </a:r>
          </a:p>
        </p:txBody>
      </p:sp>
    </p:spTree>
    <p:extLst>
      <p:ext uri="{BB962C8B-B14F-4D97-AF65-F5344CB8AC3E}">
        <p14:creationId xmlns:p14="http://schemas.microsoft.com/office/powerpoint/2010/main" val="3688004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C0FC39-6755-4EE1-9D6F-60AFE430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E35"/>
                </a:solidFill>
                <a:latin typeface="Arial"/>
                <a:ea typeface="Arial"/>
                <a:cs typeface="Arial"/>
              </a:rPr>
              <a:t>A wrong label changes the answer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126697-9E70-4B6D-97C9-616FB06A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75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754"/>
                </a:solidFill>
                <a:latin typeface="Arial"/>
                <a:ea typeface="Arial"/>
                <a:cs typeface="Arial"/>
              </a:rPr>
              <a:t>MemoryForge  /  DataForge 2026                                     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18BE6D-E1A3-473E-9FD7-BA398592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7217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75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754"/>
                </a:solidFill>
                <a:latin typeface="Arial"/>
                <a:ea typeface="Arial"/>
                <a:cs typeface="Arial"/>
              </a:rPr>
              <a:t>Seed 1000, the same 30 queries. One mislabeled write; the original ground truth is preserved.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22790402f548a4"/>
          <a:stretch xmlns:a="http://schemas.openxmlformats.org/drawingml/2006/main"/>
        </p:blipFill>
        <p:spPr>
          <a:xfrm xmlns:a="http://schemas.openxmlformats.org/drawingml/2006/main">
            <a:off x="571500" y="1601093"/>
            <a:ext cx="7362825" cy="414158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099C7B-CFC8-49B0-B6DA-744D438A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81150"/>
            <a:ext cx="333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9960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996027"/>
                </a:solidFill>
                <a:latin typeface="Arial"/>
                <a:ea typeface="Arial"/>
                <a:cs typeface="Arial"/>
              </a:rPr>
              <a:t>27/30 → 26/30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F929F4-FA48-4FC9-858B-BA2ED0E2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63F3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63F35"/>
                </a:solidFill>
                <a:latin typeface="Arial"/>
                <a:ea typeface="Arial"/>
                <a:cs typeface="Arial"/>
              </a:rPr>
              <a:t>correct after the conflict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09565A-7B27-44FD-9387-48910AB49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43250"/>
            <a:ext cx="331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E35"/>
                </a:solidFill>
                <a:latin typeface="Arial"/>
                <a:ea typeface="Arial"/>
                <a:cs typeface="Arial"/>
              </a:rPr>
              <a:t>5 predictions change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5D3638-3FB7-43E1-B74E-132B5F3D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00450"/>
            <a:ext cx="33147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63F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F35"/>
                </a:solidFill>
                <a:latin typeface="Arial"/>
                <a:ea typeface="Arial"/>
                <a:cs typeface="Arial"/>
              </a:rPr>
              <a:t>The mean for BETA now</a:t>
            </a:r>
          </a:p>
          <a:p xmlns:a="http://schemas.openxmlformats.org/drawingml/2006/main">
            <a:pPr algn="l">
              <a:defRPr sz="2100" b="0">
                <a:solidFill>
                  <a:srgbClr val="263F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F35"/>
                </a:solidFill>
                <a:latin typeface="Arial"/>
                <a:ea typeface="Arial"/>
                <a:cs typeface="Arial"/>
              </a:rPr>
              <a:t>includes an ALPHA key.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E0BEA2-2A51-4872-848B-A0EB01F7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733925"/>
            <a:ext cx="331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E35"/>
                </a:solidFill>
                <a:latin typeface="Arial"/>
                <a:ea typeface="Arial"/>
                <a:cs typeface="Arial"/>
              </a:rPr>
              <a:t>The lesson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B5E3F2-39C4-42FC-BD9D-8E8011B0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191125"/>
            <a:ext cx="3314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63F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F35"/>
                </a:solidFill>
                <a:latin typeface="Arial"/>
                <a:ea typeface="Arial"/>
                <a:cs typeface="Arial"/>
              </a:rPr>
              <a:t>A writable memory also</a:t>
            </a:r>
          </a:p>
          <a:p xmlns:a="http://schemas.openxmlformats.org/drawingml/2006/main">
            <a:pPr algn="l">
              <a:defRPr sz="2100" b="0">
                <a:solidFill>
                  <a:srgbClr val="263F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F35"/>
                </a:solidFill>
                <a:latin typeface="Arial"/>
                <a:ea typeface="Arial"/>
                <a:cs typeface="Arial"/>
              </a:rPr>
              <a:t>accepts contradictory input.</a:t>
            </a:r>
          </a:p>
        </p:txBody>
      </p:sp>
    </p:spTree>
    <p:extLst>
      <p:ext uri="{BB962C8B-B14F-4D97-AF65-F5344CB8AC3E}">
        <p14:creationId xmlns:p14="http://schemas.microsoft.com/office/powerpoint/2010/main" val="5129929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A92279-67E8-45C1-BF6A-77BC33C6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E35"/>
                </a:solidFill>
                <a:latin typeface="Arial"/>
                <a:ea typeface="Arial"/>
                <a:cs typeface="Arial"/>
              </a:rPr>
              <a:t>The research connection is about changing 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B920B6-B609-4F7A-963E-042E26F6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75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754"/>
                </a:solidFill>
                <a:latin typeface="Arial"/>
                <a:ea typeface="Arial"/>
                <a:cs typeface="Arial"/>
              </a:rPr>
              <a:t>MemoryForge  /  DataForge 2026                                     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6356D8-68B6-4941-BB05-5D1B7446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7217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75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754"/>
                </a:solidFill>
                <a:latin typeface="Arial"/>
                <a:ea typeface="Arial"/>
                <a:cs typeface="Arial"/>
              </a:rPr>
              <a:t>PS-1 / Pathway: a real state-changing experiment, inspectable evidence, and sourced BDH explanation.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12193D-E6EC-461D-860B-57E2A8AB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95425"/>
            <a:ext cx="519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E35"/>
                </a:solidFill>
                <a:latin typeface="Arial"/>
                <a:ea typeface="Arial"/>
                <a:cs typeface="Arial"/>
              </a:rPr>
              <a:t>BDH [1]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71154F-0CB9-4059-9E95-8EBB303E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5191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63F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F35"/>
                </a:solidFill>
                <a:latin typeface="Arial"/>
                <a:ea typeface="Arial"/>
                <a:cs typeface="Arial"/>
              </a:rPr>
              <a:t>Fixed connections coexist with</a:t>
            </a:r>
          </a:p>
          <a:p xmlns:a="http://schemas.openxmlformats.org/drawingml/2006/main">
            <a:pPr algn="l">
              <a:defRPr sz="2100" b="0">
                <a:solidFill>
                  <a:srgbClr val="263F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F35"/>
                </a:solidFill>
                <a:latin typeface="Arial"/>
                <a:ea typeface="Arial"/>
                <a:cs typeface="Arial"/>
              </a:rPr>
              <a:t>Hebbian synaptic state.</a:t>
            </a:r>
          </a:p>
          <a:p xmlns:a="http://schemas.openxmlformats.org/drawingml/2006/main">
            <a:pPr algn="l">
              <a:defRPr sz="2100" b="0">
                <a:solidFill>
                  <a:srgbClr val="263F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F35"/>
                </a:solidFill>
                <a:latin typeface="Arial"/>
                <a:ea typeface="Arial"/>
                <a:cs typeface="Arial"/>
              </a:rPr>
              <a:t>This motivates the teaching distinction.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7492B2-B098-4459-8C38-B1BE7FE1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495425"/>
            <a:ext cx="519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E35"/>
                </a:solidFill>
                <a:latin typeface="Arial"/>
                <a:ea typeface="Arial"/>
                <a:cs typeface="Arial"/>
              </a:rPr>
              <a:t>BDH-CQ [2]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903CCD-18AB-42CC-8405-555CE6EE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52625"/>
            <a:ext cx="5191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63F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F35"/>
                </a:solidFill>
                <a:latin typeface="Arial"/>
                <a:ea typeface="Arial"/>
                <a:cs typeface="Arial"/>
              </a:rPr>
              <a:t>Context memory feeds an iterative</a:t>
            </a:r>
          </a:p>
          <a:p xmlns:a="http://schemas.openxmlformats.org/drawingml/2006/main">
            <a:pPr algn="l">
              <a:defRPr sz="2100" b="0">
                <a:solidFill>
                  <a:srgbClr val="263F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F35"/>
                </a:solidFill>
                <a:latin typeface="Arial"/>
                <a:ea typeface="Arial"/>
                <a:cs typeface="Arial"/>
              </a:rPr>
              <a:t>query workspace. Exact updates</a:t>
            </a:r>
          </a:p>
          <a:p xmlns:a="http://schemas.openxmlformats.org/drawingml/2006/main">
            <a:pPr algn="l">
              <a:defRPr sz="2100" b="0">
                <a:solidFill>
                  <a:srgbClr val="263F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F35"/>
                </a:solidFill>
                <a:latin typeface="Arial"/>
                <a:ea typeface="Arial"/>
                <a:cs typeface="Arial"/>
              </a:rPr>
              <a:t>and dimensions remain proprietary.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D82E46-17BC-41CE-9DC8-786FC007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86175"/>
            <a:ext cx="519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E35"/>
                </a:solidFill>
                <a:latin typeface="Arial"/>
                <a:ea typeface="Arial"/>
                <a:cs typeface="Arial"/>
              </a:rPr>
              <a:t>Alternative update rules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5CD5EE-0E4E-4718-8BF6-CD7C7D7E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43375"/>
            <a:ext cx="5191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63F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F35"/>
                </a:solidFill>
                <a:latin typeface="Arial"/>
                <a:ea typeface="Arial"/>
                <a:cs typeface="Arial"/>
              </a:rPr>
              <a:t>DeltaNet [3]: retrieval-error correction.</a:t>
            </a:r>
          </a:p>
          <a:p xmlns:a="http://schemas.openxmlformats.org/drawingml/2006/main">
            <a:pPr algn="l">
              <a:defRPr sz="2100" b="0">
                <a:solidFill>
                  <a:srgbClr val="263F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F35"/>
                </a:solidFill>
                <a:latin typeface="Arial"/>
                <a:ea typeface="Arial"/>
                <a:cs typeface="Arial"/>
              </a:rPr>
              <a:t>Titans [4]: neural memory optimized</a:t>
            </a:r>
          </a:p>
          <a:p xmlns:a="http://schemas.openxmlformats.org/drawingml/2006/main">
            <a:pPr algn="l">
              <a:defRPr sz="2100" b="0">
                <a:solidFill>
                  <a:srgbClr val="263F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F35"/>
                </a:solidFill>
                <a:latin typeface="Arial"/>
                <a:ea typeface="Arial"/>
                <a:cs typeface="Arial"/>
              </a:rPr>
              <a:t>at test time.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52357D-3637-4589-B254-10F27AD7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686175"/>
            <a:ext cx="519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E35"/>
                </a:solidFill>
                <a:latin typeface="Arial"/>
                <a:ea typeface="Arial"/>
                <a:cs typeface="Arial"/>
              </a:rPr>
              <a:t>MemoryForge’s boundary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CF48E5-529C-4E55-AD2B-EC474CBB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43375"/>
            <a:ext cx="5191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63F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F35"/>
                </a:solidFill>
                <a:latin typeface="Arial"/>
                <a:ea typeface="Arial"/>
                <a:cs typeface="Arial"/>
              </a:rPr>
              <a:t>Class-mean label memory only.</a:t>
            </a:r>
          </a:p>
          <a:p xmlns:a="http://schemas.openxmlformats.org/drawingml/2006/main">
            <a:pPr algn="l">
              <a:defRPr sz="2100" b="0">
                <a:solidFill>
                  <a:srgbClr val="263F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F35"/>
                </a:solidFill>
                <a:latin typeface="Arial"/>
                <a:ea typeface="Arial"/>
                <a:cs typeface="Arial"/>
              </a:rPr>
              <a:t>No BDH graph or CQ workspace.</a:t>
            </a:r>
          </a:p>
          <a:p xmlns:a="http://schemas.openxmlformats.org/drawingml/2006/main">
            <a:pPr algn="l">
              <a:defRPr sz="2100" b="0">
                <a:solidFill>
                  <a:srgbClr val="263F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F35"/>
                </a:solidFill>
                <a:latin typeface="Arial"/>
                <a:ea typeface="Arial"/>
                <a:cs typeface="Arial"/>
              </a:rPr>
              <a:t>No claim of general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00D8BC-4A35-4DDB-BCCE-3E64C835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53075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675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6754"/>
                </a:solidFill>
                <a:latin typeface="Arial"/>
                <a:ea typeface="Arial"/>
                <a:cs typeface="Arial"/>
              </a:rPr>
              <a:t>[1] 2509.26507v1   [2] 2608.09888v1   [3] 2406.06484v3   [4] 2501.00663v1</a:t>
            </a:r>
          </a:p>
        </p:txBody>
      </p:sp>
    </p:spTree>
    <p:extLst>
      <p:ext uri="{BB962C8B-B14F-4D97-AF65-F5344CB8AC3E}">
        <p14:creationId xmlns:p14="http://schemas.microsoft.com/office/powerpoint/2010/main" val="18617945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2274AA-F51E-473E-8094-6D7168EB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E35"/>
                </a:solidFill>
                <a:latin typeface="Arial"/>
                <a:ea typeface="Arial"/>
                <a:cs typeface="Arial"/>
              </a:rPr>
              <a:t>What it can support, and what needs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360BEB-0169-4F13-90AC-0818A5C4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75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754"/>
                </a:solidFill>
                <a:latin typeface="Arial"/>
                <a:ea typeface="Arial"/>
                <a:cs typeface="Arial"/>
              </a:rPr>
              <a:t>MemoryForge  /  DataForge 2026                                     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C2100C-6FDE-4F98-BA51-BA44C299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7217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75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754"/>
                </a:solidFill>
                <a:latin typeface="Arial"/>
                <a:ea typeface="Arial"/>
                <a:cs typeface="Arial"/>
              </a:rPr>
              <a:t>Proposals only. No current revenue, paying users, learning-outcome study, or production-readiness claim.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800F3F-795D-44D7-8759-D46A5E7A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43050"/>
            <a:ext cx="3343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E35"/>
                </a:solidFill>
                <a:latin typeface="Arial"/>
                <a:ea typeface="Arial"/>
                <a:cs typeface="Arial"/>
              </a:rPr>
              <a:t>Reuse and scale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C567F7-04BB-4804-9632-8BE93257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432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63F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F35"/>
                </a:solidFill>
                <a:latin typeface="Arial"/>
                <a:ea typeface="Arial"/>
                <a:cs typeface="Arial"/>
              </a:rPr>
              <a:t>An inspectable CPU teaching lab.</a:t>
            </a:r>
          </a:p>
          <a:p xmlns:a="http://schemas.openxmlformats.org/drawingml/2006/main">
            <a:pPr algn="l">
              <a:defRPr sz="2025" b="0">
                <a:solidFill>
                  <a:srgbClr val="263F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F35"/>
                </a:solidFill>
                <a:latin typeface="Arial"/>
                <a:ea typeface="Arial"/>
                <a:cs typeface="Arial"/>
              </a:rPr>
              <a:t>Core S+c state: 408 bytes.</a:t>
            </a:r>
          </a:p>
          <a:p xmlns:a="http://schemas.openxmlformats.org/drawingml/2006/main">
            <a:pPr algn="l">
              <a:defRPr sz="2025" b="0">
                <a:solidFill>
                  <a:srgbClr val="263F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F35"/>
                </a:solidFill>
                <a:latin typeface="Arial"/>
                <a:ea typeface="Arial"/>
                <a:cs typeface="Arial"/>
              </a:rPr>
              <a:t>Dense reads grow with labels</a:t>
            </a:r>
          </a:p>
          <a:p xmlns:a="http://schemas.openxmlformats.org/drawingml/2006/main">
            <a:pPr algn="l">
              <a:defRPr sz="2025" b="0">
                <a:solidFill>
                  <a:srgbClr val="263F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F35"/>
                </a:solidFill>
                <a:latin typeface="Arial"/>
                <a:ea typeface="Arial"/>
                <a:cs typeface="Arial"/>
              </a:rPr>
              <a:t>and embedding width.</a:t>
            </a:r>
          </a:p>
          <a:p xmlns:a="http://schemas.openxmlformats.org/drawingml/2006/main">
            <a:pPr algn="l">
              <a:defRPr sz="2025" b="0">
                <a:solidFill>
                  <a:srgbClr val="263F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F35"/>
                </a:solidFill>
                <a:latin typeface="Arial"/>
                <a:ea typeface="Arial"/>
                <a:cs typeface="Arial"/>
              </a:rPr>
              <a:t>Total app memory is larger.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EE963F-EEFF-4FA4-9A9E-C34A7A01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543050"/>
            <a:ext cx="3343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E35"/>
                </a:solidFill>
                <a:latin typeface="Arial"/>
                <a:ea typeface="Arial"/>
                <a:cs typeface="Arial"/>
              </a:rPr>
              <a:t>Next experiments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6032F5-4FF2-492D-9365-4B4AF9F1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00250"/>
            <a:ext cx="33432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63F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F35"/>
                </a:solidFill>
                <a:latin typeface="Arial"/>
                <a:ea typeface="Arial"/>
                <a:cs typeface="Arial"/>
              </a:rPr>
              <a:t>Hold the noise fraction fixed.</a:t>
            </a:r>
          </a:p>
          <a:p xmlns:a="http://schemas.openxmlformats.org/drawingml/2006/main">
            <a:pPr algn="l">
              <a:defRPr sz="2025" b="0">
                <a:solidFill>
                  <a:srgbClr val="263F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F35"/>
                </a:solidFill>
                <a:latin typeface="Arial"/>
                <a:ea typeface="Arial"/>
                <a:cs typeface="Arial"/>
              </a:rPr>
              <a:t>Compare memory update rules.</a:t>
            </a:r>
          </a:p>
          <a:p xmlns:a="http://schemas.openxmlformats.org/drawingml/2006/main">
            <a:pPr algn="l">
              <a:defRPr sz="2025" b="0">
                <a:solidFill>
                  <a:srgbClr val="263F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F35"/>
                </a:solidFill>
                <a:latin typeface="Arial"/>
                <a:ea typeface="Arial"/>
                <a:cs typeface="Arial"/>
              </a:rPr>
              <a:t>Test unfamiliar categories.</a:t>
            </a:r>
          </a:p>
          <a:p xmlns:a="http://schemas.openxmlformats.org/drawingml/2006/main">
            <a:pPr algn="l">
              <a:defRPr sz="2025" b="0">
                <a:solidFill>
                  <a:srgbClr val="263F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F35"/>
                </a:solidFill>
                <a:latin typeface="Arial"/>
                <a:ea typeface="Arial"/>
                <a:cs typeface="Arial"/>
              </a:rPr>
              <a:t>Measure learner understanding</a:t>
            </a:r>
          </a:p>
          <a:p xmlns:a="http://schemas.openxmlformats.org/drawingml/2006/main">
            <a:pPr algn="l">
              <a:defRPr sz="2025" b="0">
                <a:solidFill>
                  <a:srgbClr val="263F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F35"/>
                </a:solidFill>
                <a:latin typeface="Arial"/>
                <a:ea typeface="Arial"/>
                <a:cs typeface="Arial"/>
              </a:rPr>
              <a:t>and concurrent-session behavior.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819DD9-39A7-412C-8DCB-74E86793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43050"/>
            <a:ext cx="3343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E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E35"/>
                </a:solidFill>
                <a:latin typeface="Arial"/>
                <a:ea typeface="Arial"/>
                <a:cs typeface="Arial"/>
              </a:rPr>
              <a:t>Sustainability option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A468CC-0E00-41F7-AB20-97AB92A3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00250"/>
            <a:ext cx="33432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63F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F35"/>
                </a:solidFill>
                <a:latin typeface="Arial"/>
                <a:ea typeface="Arial"/>
                <a:cs typeface="Arial"/>
              </a:rPr>
              <a:t>Keep the teaching core open.</a:t>
            </a:r>
          </a:p>
          <a:p xmlns:a="http://schemas.openxmlformats.org/drawingml/2006/main">
            <a:pPr algn="l">
              <a:defRPr sz="2025" b="0">
                <a:solidFill>
                  <a:srgbClr val="263F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F35"/>
                </a:solidFill>
                <a:latin typeface="Arial"/>
                <a:ea typeface="Arial"/>
                <a:cs typeface="Arial"/>
              </a:rPr>
              <a:t>Explore paid workshops or</a:t>
            </a:r>
          </a:p>
          <a:p xmlns:a="http://schemas.openxmlformats.org/drawingml/2006/main">
            <a:pPr algn="l">
              <a:defRPr sz="2025" b="0">
                <a:solidFill>
                  <a:srgbClr val="263F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F35"/>
                </a:solidFill>
                <a:latin typeface="Arial"/>
                <a:ea typeface="Arial"/>
                <a:cs typeface="Arial"/>
              </a:rPr>
              <a:t>managed classroom hosting.</a:t>
            </a:r>
          </a:p>
          <a:p xmlns:a="http://schemas.openxmlformats.org/drawingml/2006/main">
            <a:pPr algn="l">
              <a:defRPr sz="2025" b="0">
                <a:solidFill>
                  <a:srgbClr val="263F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F35"/>
                </a:solidFill>
                <a:latin typeface="Arial"/>
                <a:ea typeface="Arial"/>
                <a:cs typeface="Arial"/>
              </a:rPr>
              <a:t>Validate demand and support</a:t>
            </a:r>
          </a:p>
          <a:p xmlns:a="http://schemas.openxmlformats.org/drawingml/2006/main">
            <a:pPr algn="l">
              <a:defRPr sz="2025" b="0">
                <a:solidFill>
                  <a:srgbClr val="263F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F35"/>
                </a:solidFill>
                <a:latin typeface="Arial"/>
                <a:ea typeface="Arial"/>
                <a:cs typeface="Arial"/>
              </a:rPr>
              <a:t>costs before offering a service.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07F145-C8CD-4C55-8832-F6C26397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14850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56C4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56C4C"/>
                </a:solidFill>
                <a:latin typeface="Arial"/>
                <a:ea typeface="Arial"/>
                <a:cs typeface="Arial"/>
              </a:rPr>
              <a:t>Functional prototype today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2CC0F5-05DA-4C6E-A0D8-9A3161FFC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19675"/>
            <a:ext cx="11049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63F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F35"/>
                </a:solidFill>
                <a:latin typeface="Arial"/>
                <a:ea typeface="Arial"/>
                <a:cs typeface="Arial"/>
              </a:rPr>
              <a:t>Public CPU app, 124 tests passed, reproducible evidence.</a:t>
            </a:r>
          </a:p>
          <a:p xmlns:a="http://schemas.openxmlformats.org/drawingml/2006/main">
            <a:pPr algn="l">
              <a:defRPr sz="2175" b="0">
                <a:solidFill>
                  <a:srgbClr val="263F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F35"/>
                </a:solidFill>
                <a:latin typeface="Arial"/>
                <a:ea typeface="Arial"/>
                <a:cs typeface="Arial"/>
              </a:rPr>
              <a:t>Learner outcomes and production capacity remain unmeasured.</a:t>
            </a:r>
          </a:p>
        </p:txBody>
      </p:sp>
    </p:spTree>
    <p:extLst>
      <p:ext uri="{BB962C8B-B14F-4D97-AF65-F5344CB8AC3E}">
        <p14:creationId xmlns:p14="http://schemas.microsoft.com/office/powerpoint/2010/main" val="1690836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3E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388BD4-248C-45D6-9F1E-8B425BC1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DE5D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DE5D0"/>
                </a:solidFill>
                <a:latin typeface="Arial"/>
                <a:ea typeface="Arial"/>
                <a:cs typeface="Arial"/>
              </a:rPr>
              <a:t>MemoryForge  /  DataForge 2026                                     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B73808-A73B-49A7-88C3-26E68A76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0953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DDE5D0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DDE5D0"/>
                </a:solidFill>
                <a:latin typeface="Arial"/>
                <a:ea typeface="Arial"/>
                <a:cs typeface="Arial"/>
              </a:rPr>
              <a:t>DataForge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70EE79-C106-45A2-8CB2-927E00EF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0225"/>
            <a:ext cx="109537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0C16A8-D220-4010-94D8-6DEB0FBE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4325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DDE5D0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DDE5D0"/>
                </a:solidFill>
                <a:latin typeface="Arial"/>
                <a:ea typeface="Arial"/>
                <a:cs typeface="Arial"/>
              </a:rPr>
              <a:t>MemoryForge / Team BitWise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4EA77F-5796-4113-95B7-76CB4E8A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71950"/>
            <a:ext cx="5095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Ved Patel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7015B5-4EC5-4E55-B468-92FD324D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171950"/>
            <a:ext cx="5095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Deepshikha Rani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956E41-5E46-43EF-B82D-C7BE1D6B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95825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DDE5D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DE5D0"/>
                </a:solidFill>
                <a:latin typeface="Arial"/>
                <a:ea typeface="Arial"/>
                <a:cs typeface="Arial"/>
              </a:rPr>
              <a:t>ved2032patel@gmail.com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15AF67-1B14-47F4-AFE5-06F4321F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695825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DDE5D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DE5D0"/>
                </a:solidFill>
                <a:latin typeface="Arial"/>
                <a:ea typeface="Arial"/>
                <a:cs typeface="Arial"/>
              </a:rPr>
              <a:t>deepshikharani297@gmail.com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075DBE-7405-4079-9AD5-BCCA4AB9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340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Live demonstration: memoryforge.streamlit.app</a:t>
            </a:r>
          </a:p>
        </p:txBody>
      </p:sp>
    </p:spTree>
    <p:extLst>
      <p:ext uri="{BB962C8B-B14F-4D97-AF65-F5344CB8AC3E}">
        <p14:creationId xmlns:p14="http://schemas.microsoft.com/office/powerpoint/2010/main" val="17203171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2026-09-08T15:21:10.8780000Z</dcterms:created>
  <dcterms:modified xsi:type="dcterms:W3CDTF">2026-09-08T15:21:10.8780000Z</dcterms:modified>
</coreProperties>
</file>