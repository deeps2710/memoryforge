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5d1945daca74979" /><Relationship Type="http://schemas.openxmlformats.org/officeDocument/2006/relationships/extended-properties" Target="/docProps/app.xml" Id="Rca431bbd600d44f6" /><Relationship Type="http://schemas.openxmlformats.org/officeDocument/2006/relationships/officeDocument" Target="/ppt/presentation.xml" Id="R933a22fa73764272" /></Relationships>
</file>

<file path=ppt/presentation.xml><?xml version="1.0" encoding="utf-8"?>
<p:presentation xmlns:p="http://schemas.openxmlformats.org/presentationml/2006/main">
  <p:sldMasterIdLst>
    <p:sldMasterId xmlns:r="http://schemas.openxmlformats.org/officeDocument/2006/relationships" id="2147483648" r:id="R5a4c3b27ca7f491e"/>
  </p:sldMasterIdLst>
  <p:notesMasterIdLst>
    <p:notesMasterId xmlns:r="http://schemas.openxmlformats.org/officeDocument/2006/relationships" r:id="Rd9839bdfd1634d86"/>
  </p:notesMasterIdLst>
  <p:sldIdLst>
    <p:sldId xmlns:r="http://schemas.openxmlformats.org/officeDocument/2006/relationships" id="256" r:id="R2eb7362c02664051"/>
    <p:sldId xmlns:r="http://schemas.openxmlformats.org/officeDocument/2006/relationships" id="257" r:id="Ra3d3c02bd4db4349"/>
    <p:sldId xmlns:r="http://schemas.openxmlformats.org/officeDocument/2006/relationships" id="258" r:id="R3c15fe824a094a57"/>
    <p:sldId xmlns:r="http://schemas.openxmlformats.org/officeDocument/2006/relationships" id="259" r:id="R52195d5aaf3d4c09"/>
    <p:sldId xmlns:r="http://schemas.openxmlformats.org/officeDocument/2006/relationships" id="260" r:id="R92d6fd398eef44b8"/>
    <p:sldId xmlns:r="http://schemas.openxmlformats.org/officeDocument/2006/relationships" id="261" r:id="R4e266853330e45d7"/>
    <p:sldId xmlns:r="http://schemas.openxmlformats.org/officeDocument/2006/relationships" id="262" r:id="R7d8bbab19af2465b"/>
    <p:sldId xmlns:r="http://schemas.openxmlformats.org/officeDocument/2006/relationships" id="263" r:id="R61b3a197d57c4a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98c247eec64460" /><Relationship Type="http://schemas.openxmlformats.org/officeDocument/2006/relationships/slideMaster" Target="/ppt/slideMasters/slideMaster1.xml" Id="R5a4c3b27ca7f491e" /><Relationship Type="http://schemas.openxmlformats.org/officeDocument/2006/relationships/notesMaster" Target="/ppt/notesMasters/notesMaster1.xml" Id="Rd9839bdfd1634d86" /><Relationship Type="http://schemas.openxmlformats.org/officeDocument/2006/relationships/presProps" Target="/ppt/presProps.xml" Id="R2d02723fb2524fd7" /><Relationship Type="http://schemas.openxmlformats.org/officeDocument/2006/relationships/tableStyles" Target="/ppt/tableStyles.xml" Id="R3e4109efe4f94eae" /><Relationship Type="http://schemas.openxmlformats.org/officeDocument/2006/relationships/slide" Target="/ppt/slides/slide1.xml" Id="R2eb7362c02664051" /><Relationship Type="http://schemas.openxmlformats.org/officeDocument/2006/relationships/slide" Target="/ppt/slides/slide2.xml" Id="Ra3d3c02bd4db4349" /><Relationship Type="http://schemas.openxmlformats.org/officeDocument/2006/relationships/slide" Target="/ppt/slides/slide3.xml" Id="R3c15fe824a094a57" /><Relationship Type="http://schemas.openxmlformats.org/officeDocument/2006/relationships/slide" Target="/ppt/slides/slide4.xml" Id="R52195d5aaf3d4c09" /><Relationship Type="http://schemas.openxmlformats.org/officeDocument/2006/relationships/slide" Target="/ppt/slides/slide5.xml" Id="R92d6fd398eef44b8" /><Relationship Type="http://schemas.openxmlformats.org/officeDocument/2006/relationships/slide" Target="/ppt/slides/slide6.xml" Id="R4e266853330e45d7" /><Relationship Type="http://schemas.openxmlformats.org/officeDocument/2006/relationships/slide" Target="/ppt/slides/slide7.xml" Id="R7d8bbab19af2465b" /><Relationship Type="http://schemas.openxmlformats.org/officeDocument/2006/relationships/slide" Target="/ppt/slides/slide8.xml" Id="R61b3a197d57c4a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e7e8348f3f41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35ca8b540140d6" /><Relationship Type="http://schemas.openxmlformats.org/officeDocument/2006/relationships/notesMaster" Target="/ppt/notesMasters/notesMaster1.xml" Id="R372669b5f7a74e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5636eab28f4b5e" /><Relationship Type="http://schemas.openxmlformats.org/officeDocument/2006/relationships/notesMaster" Target="/ppt/notesMasters/notesMaster1.xml" Id="Rcd55c24033df4e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9aebf6b8d84f15" /><Relationship Type="http://schemas.openxmlformats.org/officeDocument/2006/relationships/notesMaster" Target="/ppt/notesMasters/notesMaster1.xml" Id="R78829b3388af4a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6adb69eb684d88" /><Relationship Type="http://schemas.openxmlformats.org/officeDocument/2006/relationships/notesMaster" Target="/ppt/notesMasters/notesMaster1.xml" Id="R691f8817798c40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44a93a52e74087" /><Relationship Type="http://schemas.openxmlformats.org/officeDocument/2006/relationships/notesMaster" Target="/ppt/notesMasters/notesMaster1.xml" Id="R3a8fc0ae2d1047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58bfb669744c5b" /><Relationship Type="http://schemas.openxmlformats.org/officeDocument/2006/relationships/notesMaster" Target="/ppt/notesMasters/notesMaster1.xml" Id="R8cf6949be6e242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d5d53c0be94983" /><Relationship Type="http://schemas.openxmlformats.org/officeDocument/2006/relationships/notesMaster" Target="/ppt/notesMasters/notesMaster1.xml" Id="Recd154590e3246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104e3df2384dd7" /><Relationship Type="http://schemas.openxmlformats.org/officeDocument/2006/relationships/notesMaster" Target="/ppt/notesMasters/notesMaster1.xml" Id="R936adb66d2aa4f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DataForge 2026, Pathway track. Team BitWise: Deepshikha Rani and Ved Patel. Team names and optional contact details supplied by the user. Logo supplied by the user, used without modifying its original PNG bytes.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captured from https://memoryforge.streamlit.app/ on 2026-09-08. Original screenshot bytes included in assets/screenshots. Source: https://github.com/deeps2710/MemoryForge/blob/main/src/ui.py. The opening preset has 23/30 correct held-out queries.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https://github.com/deeps2710/MemoryForge/blob/main/src/data.py, https://github.com/deeps2710/MemoryForge/blob/main/src/training.py, https://github.com/deeps2710/MemoryForge/blob/main/scripts/train_encoder.py, https://github.com/deeps2710/MemoryForge/blob/main/artifacts/encoder.training.json. All 1797 original row IDs are stratified once with seed 42. Encoder and training-only head learn from 1347 rows. 450 held-out rows provide sanity evaluation and later episode pools, never optimizer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session path: https://github.com/deeps2710/MemoryForge/blob/main/src/ui.py dispatch, https://github.com/deeps2710/MemoryForge/blob/main/src/lab.py _begin/_write_rows/_finish/state_view, https://github.com/deeps2710/MemoryForge/blob/main/src/fast_memory.py. Teach appends one support per class. Set shots rebuilds nested clean prefixes. Conflict appends support[0] under its next cyclic label while truth remains unchanged. Before/after actions audit exact frozen weights and query all 30 images. D6 stores S (3x16) and c (3); M is derived. D7 captures before/after snapshots, scores and measurements. Rendering cannot backpropagate into encoder weights.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https://github.com/deeps2710/MemoryForge/blob/main/artifacts/phase4_deployment.json and https://github.com/deeps2710/MemoryForge/blob/main/src/lab.py. Left: after two support examples per class, 6 writes, 27/30 correct. Right: Inject Conflict writes digit 1 as BETA while true association remains ALPHA. The same 30 queries give 26/30 correct and five predictions change. Encoder delta remains zero. Reset clears S and c and abstains. Screenshot files: assets/screenshots/memory-and-retrieval.png and conflict-outcome.png.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https://github.com/deeps2710/MemoryForge/blob/main/artifacts/phase3_evidence.json. Native chart uses rounded mean accuracy percentages at 1,2,5,10 shots, conflicts 0 or 3. Query sets are paired within each seed. 650 total conditions and 19,500 outcomes share images; no independent evaluation claim. Primary citations adjacent to slide claims: BDH https://arxiv.org/html/2509.26507v1 §§1.2–1.3,2.2,3; CQ https://arxiv.org/html/2608.09888v1 §§3.1–3.3; DeltaNet https://arxiv.org/html/2406.06484v3 §§2.1–2.2,3; Titans https://arxiv.org/html/2501.00663v1 §§3.1–3.3. CQ exact updates/dimensions remain proprietary. This toy implements neither BDH nor CQ. No architecture accuracy ranking or external reproduction.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https://github.com/deeps2710/MemoryForge/blob/main/artifacts/phase4_final_robustness.json, https://github.com/deeps2710/MemoryForge/blob/main/artifacts/phase4_deployment.json, https://github.com/deeps2710/MemoryForge/blob/main/docs/LIMITATIONS.md. 124 tests passed on final Windows Python 3.12 configuration. Independent fresh retraining matches checkpoint tensors and full numerical Phase 1 report. Cloud Linux received install/browser verification. One measurement/action includes automation and network overhead. 130 seconds is an upper bound covering fresh provisioning and dependencies. No learner study or concurrent load study. User-provided team names/contacts do not establish role division or completed technical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DataForge 2026, Team BitWise. Deepshikha Rani and Ved Patel. The user supplied both names and email addresses and authorized optional inclusion in this presentation and its submission ZIP. Scoped MIT applies to original project code/docs/weights; logo and third-party notices remain separate. See docs/AI_ASSISTANCE.md and docs/PROVENANCE.md.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06acee88904f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9f971aa4a7428f" /><Relationship Type="http://schemas.openxmlformats.org/officeDocument/2006/relationships/slideLayout" Target="/ppt/slideLayouts/slideLayout1.xml" Id="R0912fa26d33749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12fa26d33749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9e55537ef14718" /><Relationship Type="http://schemas.openxmlformats.org/officeDocument/2006/relationships/image" Target="/ppt/media/image.png" Id="R5092b305da1b4b20" /><Relationship Type="http://schemas.openxmlformats.org/officeDocument/2006/relationships/notesSlide" Target="/ppt/notesSlides/notesSlide1.xml" Id="R2379ef1e11d44e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0e38f486524486f" /><Relationship Type="http://schemas.openxmlformats.org/officeDocument/2006/relationships/image" Target="/ppt/media/image.jpeg" Id="R32fd31c7f12d456d" /><Relationship Type="http://schemas.openxmlformats.org/officeDocument/2006/relationships/notesSlide" Target="/ppt/notesSlides/notesSlide2.xml" Id="R87e095df77b04f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6d419caae84cae" /><Relationship Type="http://schemas.openxmlformats.org/officeDocument/2006/relationships/notesSlide" Target="/ppt/notesSlides/notesSlide3.xml" Id="R3c73216abdce4a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f224ab96a84fb7" /><Relationship Type="http://schemas.openxmlformats.org/officeDocument/2006/relationships/notesSlide" Target="/ppt/notesSlides/notesSlide4.xml" Id="R4268f1b2eba740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a8dfabf35740b4" /><Relationship Type="http://schemas.openxmlformats.org/officeDocument/2006/relationships/image" Target="/ppt/media/image2.jpeg" Id="R42d6de12a01040e3" /><Relationship Type="http://schemas.openxmlformats.org/officeDocument/2006/relationships/image" Target="/ppt/media/image3.jpeg" Id="Rd4631345281c4a53" /><Relationship Type="http://schemas.openxmlformats.org/officeDocument/2006/relationships/notesSlide" Target="/ppt/notesSlides/notesSlide5.xml" Id="Rc8c0f48d4fd347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968b20c5634376" /><Relationship Type="http://schemas.openxmlformats.org/officeDocument/2006/relationships/chart" Target="/ppt/slides/charts/chart1.xml" Id="R3cbae5f0a3bb47ee" /><Relationship Type="http://schemas.openxmlformats.org/officeDocument/2006/relationships/notesSlide" Target="/ppt/notesSlides/notesSlide6.xml" Id="R9c8323283eef47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fcba32427a4111" /><Relationship Type="http://schemas.openxmlformats.org/officeDocument/2006/relationships/notesSlide" Target="/ppt/notesSlides/notesSlide7.xml" Id="R8c584be0d07747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171447d66904a9d" /><Relationship Type="http://schemas.openxmlformats.org/officeDocument/2006/relationships/notesSlide" Target="/ppt/notesSlides/notesSlide8.xml" Id="R5b1f0f4c63514ec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Clean</c:v>
          </c:tx>
          <c:spPr>
            <a:solidFill xmlns:a="http://schemas.openxmlformats.org/drawingml/2006/main">
              <a:srgbClr val="37684B"/>
            </a:solidFill>
          </c:spPr>
          <c:cat>
            <c:strRef>
              <c:f>'Chart Data'!$A$2:$A$5</c:f>
              <c:strCache>
                <c:ptCount val="4"/>
                <c:pt idx="0">
                  <c:v>1 shots</c:v>
                </c:pt>
                <c:pt idx="1">
                  <c:v>2 shots</c:v>
                </c:pt>
                <c:pt idx="2">
                  <c:v>5 shots</c:v>
                </c:pt>
                <c:pt idx="3">
                  <c:v>10 shots</c:v>
                </c:pt>
              </c:strCache>
            </c:strRef>
          </c:cat>
          <c:val>
            <c:numRef>
              <c:f>'Chart Data'!$B$2:$B$5</c:f>
              <c:numCache>
                <c:formatCode>0.0</c:formatCode>
                <c:ptCount val="4"/>
                <c:pt idx="0">
                  <c:v>94.07</c:v>
                </c:pt>
                <c:pt idx="1">
                  <c:v>95.67</c:v>
                </c:pt>
                <c:pt idx="2">
                  <c:v>96.93</c:v>
                </c:pt>
                <c:pt idx="3">
                  <c:v>98.07</c:v>
                </c:pt>
              </c:numCache>
            </c:numRef>
          </c:val>
        </c:ser>
        <c:ser>
          <c:idx val="1"/>
          <c:order val="1"/>
          <c:tx>
            <c:v>3 wrong-label writes</c:v>
          </c:tx>
          <c:spPr>
            <a:solidFill xmlns:a="http://schemas.openxmlformats.org/drawingml/2006/main">
              <a:srgbClr val="925528"/>
            </a:solidFill>
          </c:spPr>
          <c:cat>
            <c:strRef>
              <c:f>'Chart Data'!$C$2:$C$5</c:f>
              <c:strCache>
                <c:ptCount val="4"/>
                <c:pt idx="0">
                  <c:v>1 shots</c:v>
                </c:pt>
                <c:pt idx="1">
                  <c:v>2 shots</c:v>
                </c:pt>
                <c:pt idx="2">
                  <c:v>5 shots</c:v>
                </c:pt>
                <c:pt idx="3">
                  <c:v>10 shots</c:v>
                </c:pt>
              </c:strCache>
            </c:strRef>
          </c:cat>
          <c:val>
            <c:numRef>
              <c:f>'Chart Data'!$D$2:$D$5</c:f>
              <c:numCache>
                <c:formatCode>0.0</c:formatCode>
                <c:ptCount val="4"/>
                <c:pt idx="0">
                  <c:v>84.47</c:v>
                </c:pt>
                <c:pt idx="1">
                  <c:v>86.87</c:v>
                </c:pt>
                <c:pt idx="2">
                  <c:v>94.2</c:v>
                </c:pt>
                <c:pt idx="3">
                  <c:v>97.27</c:v>
                </c:pt>
              </c:numCache>
            </c:numRef>
          </c:val>
        </c:ser>
        <c:dLbls>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ax val="100"/>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20"/>
      </c:valAx>
      <c:spPr>
        <a:solidFill xmlns:a="http://schemas.openxmlformats.org/drawingml/2006/main">
          <a:srgbClr val="F5F5EE"/>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5F5E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F35"/>
        </a:solidFill>
      </p:bgPr>
    </p:bg>
    <p:spTree>
      <p:nvGrpSpPr>
        <p:cNvPr id="1" name=""/>
        <p:cNvGrpSpPr/>
        <p:nvPr/>
      </p:nvGrpSpPr>
      <p:grpSpPr>
        <a:xfrm xmlns:a="http://schemas.openxmlformats.org/drawingml/2006/main"/>
      </p:grpSpPr>
      <p:sp>
        <p:nvSpPr>
          <p:cNvPr id="7" name="text-1-0">
            <a:extLst xmlns:a="http://schemas.openxmlformats.org/drawingml/2006/main">
              <a:ext uri="{FF2B5EF4-FFF2-40B4-BE49-F238E27FC236}">
                <a16:creationId xmlns:a16="http://schemas.microsoft.com/office/drawing/2014/main" id="{D0E57069-5AAE-43A6-933F-C9266BE8F618}"/>
              </a:ext>
            </a:extLst>
          </p:cNvPr>
          <p:cNvSpPr>
            <a:spLocks xmlns:a="http://schemas.openxmlformats.org/drawingml/2006/main" noGrp="1"/>
          </p:cNvSpPr>
          <p:nvPr/>
        </p:nvSpPr>
        <p:spPr>
          <a:xfrm xmlns:a="http://schemas.openxmlformats.org/drawingml/2006/main">
            <a:off x="590550" y="647700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D5E5A9"/>
                </a:solidFill>
                <a:latin typeface="Arial"/>
                <a:ea typeface="Arial"/>
                <a:cs typeface="Arial"/>
              </a:defRPr>
            </a:pPr>
            <a:r>
              <a:rPr sz="1200" b="0">
                <a:solidFill>
                  <a:srgbClr val="D5E5A9"/>
                </a:solidFill>
                <a:latin typeface="Arial"/>
                <a:ea typeface="Arial"/>
                <a:cs typeface="Arial"/>
              </a:rPr>
              <a:t>DataForge 2026   /   BitWise   /   01</a:t>
            </a:r>
          </a:p>
        </p:txBody>
      </p:sp>
      <p:sp>
        <p:nvSpPr>
          <p:cNvPr id="2" name="text-1-1">
            <a:extLst xmlns:a="http://schemas.openxmlformats.org/drawingml/2006/main">
              <a:ext uri="{FF2B5EF4-FFF2-40B4-BE49-F238E27FC236}">
                <a16:creationId xmlns:a16="http://schemas.microsoft.com/office/drawing/2014/main" id="{2638383E-F84F-4F84-8639-DC94431C73F0}"/>
              </a:ext>
            </a:extLst>
          </p:cNvPr>
          <p:cNvSpPr>
            <a:spLocks xmlns:a="http://schemas.openxmlformats.org/drawingml/2006/main" noGrp="1"/>
          </p:cNvSpPr>
          <p:nvPr/>
        </p:nvSpPr>
        <p:spPr>
          <a:xfrm xmlns:a="http://schemas.openxmlformats.org/drawingml/2006/main">
            <a:off x="609600" y="1638300"/>
            <a:ext cx="742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MemoryForge</a:t>
            </a:r>
          </a:p>
        </p:txBody>
      </p:sp>
      <p:sp>
        <p:nvSpPr>
          <p:cNvPr id="3" name="text-1-2">
            <a:extLst xmlns:a="http://schemas.openxmlformats.org/drawingml/2006/main">
              <a:ext uri="{FF2B5EF4-FFF2-40B4-BE49-F238E27FC236}">
                <a16:creationId xmlns:a16="http://schemas.microsoft.com/office/drawing/2014/main" id="{E42CD325-7E63-40C4-ADDF-D4A321E8F2EA}"/>
              </a:ext>
            </a:extLst>
          </p:cNvPr>
          <p:cNvSpPr>
            <a:spLocks xmlns:a="http://schemas.openxmlformats.org/drawingml/2006/main" noGrp="1"/>
          </p:cNvSpPr>
          <p:nvPr/>
        </p:nvSpPr>
        <p:spPr>
          <a:xfrm xmlns:a="http://schemas.openxmlformats.org/drawingml/2006/main">
            <a:off x="647700" y="2876550"/>
            <a:ext cx="7524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0">
                <a:solidFill>
                  <a:srgbClr val="D5E5A9"/>
                </a:solidFill>
                <a:latin typeface="Arial"/>
                <a:ea typeface="Arial"/>
                <a:cs typeface="Arial"/>
              </a:defRPr>
            </a:pPr>
            <a:r>
              <a:rPr sz="2700" b="0">
                <a:solidFill>
                  <a:srgbClr val="D5E5A9"/>
                </a:solidFill>
                <a:latin typeface="Arial"/>
                <a:ea typeface="Arial"/>
                <a:cs typeface="Arial"/>
              </a:rPr>
              <a:t>Interactive learning with</a:t>
            </a:r>
          </a:p>
          <a:p xmlns:a="http://schemas.openxmlformats.org/drawingml/2006/main">
            <a:pPr algn="l">
              <a:defRPr sz="2700" b="0">
                <a:solidFill>
                  <a:srgbClr val="D5E5A9"/>
                </a:solidFill>
                <a:latin typeface="Arial"/>
                <a:ea typeface="Arial"/>
                <a:cs typeface="Arial"/>
              </a:defRPr>
            </a:pPr>
            <a:r>
              <a:rPr sz="2700" b="0">
                <a:solidFill>
                  <a:srgbClr val="D5E5A9"/>
                </a:solidFill>
                <a:latin typeface="Arial"/>
                <a:ea typeface="Arial"/>
                <a:cs typeface="Arial"/>
              </a:rPr>
              <a:t>fast-weight associative memory</a:t>
            </a:r>
          </a:p>
        </p:txBody>
      </p:sp>
      <p:sp>
        <p:nvSpPr>
          <p:cNvPr id="4" name="text-1-3">
            <a:extLst xmlns:a="http://schemas.openxmlformats.org/drawingml/2006/main">
              <a:ext uri="{FF2B5EF4-FFF2-40B4-BE49-F238E27FC236}">
                <a16:creationId xmlns:a16="http://schemas.microsoft.com/office/drawing/2014/main" id="{0F1DA0D9-9367-4986-9F97-BA43C3127C7B}"/>
              </a:ext>
            </a:extLst>
          </p:cNvPr>
          <p:cNvSpPr>
            <a:spLocks xmlns:a="http://schemas.openxmlformats.org/drawingml/2006/main" noGrp="1"/>
          </p:cNvSpPr>
          <p:nvPr/>
        </p:nvSpPr>
        <p:spPr>
          <a:xfrm xmlns:a="http://schemas.openxmlformats.org/drawingml/2006/main">
            <a:off x="647700" y="4524375"/>
            <a:ext cx="685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DataForge 2026</a:t>
            </a:r>
          </a:p>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Team BitWise</a:t>
            </a:r>
          </a:p>
        </p:txBody>
      </p:sp>
      <p:sp>
        <p:nvSpPr>
          <p:cNvPr id="5" name="text-1-4">
            <a:extLst xmlns:a="http://schemas.openxmlformats.org/drawingml/2006/main">
              <a:ext uri="{FF2B5EF4-FFF2-40B4-BE49-F238E27FC236}">
                <a16:creationId xmlns:a16="http://schemas.microsoft.com/office/drawing/2014/main" id="{843182E6-811A-4636-B809-AFE12CA46B67}"/>
              </a:ext>
            </a:extLst>
          </p:cNvPr>
          <p:cNvSpPr>
            <a:spLocks xmlns:a="http://schemas.openxmlformats.org/drawingml/2006/main" noGrp="1"/>
          </p:cNvSpPr>
          <p:nvPr/>
        </p:nvSpPr>
        <p:spPr>
          <a:xfrm xmlns:a="http://schemas.openxmlformats.org/drawingml/2006/main">
            <a:off x="647700" y="552450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Deepshikha Rani  and  Ved Patel</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092b305da1b4b20"/>
          <a:stretch xmlns:a="http://schemas.openxmlformats.org/drawingml/2006/main"/>
        </p:blipFill>
        <p:spPr>
          <a:xfrm xmlns:a="http://schemas.openxmlformats.org/drawingml/2006/main">
            <a:off x="8477250" y="2038350"/>
            <a:ext cx="2857500" cy="2857500"/>
          </a:xfrm>
          <a:prstGeom xmlns:a="http://schemas.openxmlformats.org/drawingml/2006/main" prst="rect">
            <a:avLst/>
          </a:prstGeom>
        </p:spPr>
      </p:pic>
    </p:spTree>
    <p:extLst>
      <p:ext uri="{BB962C8B-B14F-4D97-AF65-F5344CB8AC3E}">
        <p14:creationId xmlns:p14="http://schemas.microsoft.com/office/powerpoint/2010/main" val="975660881"/>
      </p:ext>
    </p:extLst>
  </p:cSld>
</p:sld>
</file>

<file path=ppt/slides/slide2.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text-2-0">
            <a:extLst xmlns:a="http://schemas.openxmlformats.org/drawingml/2006/main">
              <a:ext uri="{FF2B5EF4-FFF2-40B4-BE49-F238E27FC236}">
                <a16:creationId xmlns:a16="http://schemas.microsoft.com/office/drawing/2014/main" id="{4B54BD15-2C29-4CB3-858A-1B06584C8207}"/>
              </a:ext>
            </a:extLst>
          </p:cNvPr>
          <p:cNvSpPr>
            <a:spLocks xmlns:a="http://schemas.openxmlformats.org/drawingml/2006/main" noGrp="1"/>
          </p:cNvSpPr>
          <p:nvPr/>
        </p:nvSpPr>
        <p:spPr>
          <a:xfrm xmlns:a="http://schemas.openxmlformats.org/drawingml/2006/main">
            <a:off x="590550" y="4381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3F35"/>
                </a:solidFill>
                <a:latin typeface="Arial"/>
                <a:ea typeface="Arial"/>
                <a:cs typeface="Arial"/>
              </a:defRPr>
            </a:pPr>
            <a:r>
              <a:rPr sz="3225" b="1">
                <a:solidFill>
                  <a:srgbClr val="153F35"/>
                </a:solidFill>
                <a:latin typeface="Arial"/>
                <a:ea typeface="Arial"/>
                <a:cs typeface="Arial"/>
              </a:rPr>
              <a:t>New associations with unchanged encoder weights</a:t>
            </a:r>
          </a:p>
        </p:txBody>
      </p:sp>
      <p:sp>
        <p:nvSpPr>
          <p:cNvPr id="2" name="text-2-1">
            <a:extLst xmlns:a="http://schemas.openxmlformats.org/drawingml/2006/main">
              <a:ext uri="{FF2B5EF4-FFF2-40B4-BE49-F238E27FC236}">
                <a16:creationId xmlns:a16="http://schemas.microsoft.com/office/drawing/2014/main" id="{7B356B46-5D15-44A8-BD99-7F887914B7F8}"/>
              </a:ext>
            </a:extLst>
          </p:cNvPr>
          <p:cNvSpPr>
            <a:spLocks xmlns:a="http://schemas.openxmlformats.org/drawingml/2006/main" noGrp="1"/>
          </p:cNvSpPr>
          <p:nvPr/>
        </p:nvSpPr>
        <p:spPr>
          <a:xfrm xmlns:a="http://schemas.openxmlformats.org/drawingml/2006/main">
            <a:off x="590550" y="647700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56B61"/>
                </a:solidFill>
                <a:latin typeface="Arial"/>
                <a:ea typeface="Arial"/>
                <a:cs typeface="Arial"/>
              </a:defRPr>
            </a:pPr>
            <a:r>
              <a:rPr sz="1200" b="0">
                <a:solidFill>
                  <a:srgbClr val="556B61"/>
                </a:solidFill>
                <a:latin typeface="Arial"/>
                <a:ea typeface="Arial"/>
                <a:cs typeface="Arial"/>
              </a:rPr>
              <a:t>DataForge 2026   /   BitWise   /   02</a:t>
            </a:r>
          </a:p>
        </p:txBody>
      </p:sp>
      <p:sp>
        <p:nvSpPr>
          <p:cNvPr id="3" name="text-2-2">
            <a:extLst xmlns:a="http://schemas.openxmlformats.org/drawingml/2006/main">
              <a:ext uri="{FF2B5EF4-FFF2-40B4-BE49-F238E27FC236}">
                <a16:creationId xmlns:a16="http://schemas.microsoft.com/office/drawing/2014/main" id="{314C13A5-44DA-44F8-9ADF-4C39434B0F16}"/>
              </a:ext>
            </a:extLst>
          </p:cNvPr>
          <p:cNvSpPr>
            <a:spLocks xmlns:a="http://schemas.openxmlformats.org/drawingml/2006/main" noGrp="1"/>
          </p:cNvSpPr>
          <p:nvPr/>
        </p:nvSpPr>
        <p:spPr>
          <a:xfrm xmlns:a="http://schemas.openxmlformats.org/drawingml/2006/main">
            <a:off x="590550" y="60388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56B61"/>
                </a:solidFill>
                <a:latin typeface="Arial"/>
                <a:ea typeface="Arial"/>
                <a:cs typeface="Arial"/>
              </a:defRPr>
            </a:pPr>
            <a:r>
              <a:rPr sz="1275" b="0">
                <a:solidFill>
                  <a:srgbClr val="556B61"/>
                </a:solidFill>
                <a:latin typeface="Arial"/>
                <a:ea typeface="Arial"/>
                <a:cs typeface="Arial"/>
              </a:rPr>
              <a:t>Public app capture, seed 1000: 3 writes, encoder delta 0, prediction beside truth.</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2fd31c7f12d456d"/>
          <a:stretch xmlns:a="http://schemas.openxmlformats.org/drawingml/2006/main"/>
        </p:blipFill>
        <p:spPr>
          <a:xfrm xmlns:a="http://schemas.openxmlformats.org/drawingml/2006/main">
            <a:off x="1862667" y="1181100"/>
            <a:ext cx="8466667" cy="4762500"/>
          </a:xfrm>
          <a:prstGeom xmlns:a="http://schemas.openxmlformats.org/drawingml/2006/main" prst="rect">
            <a:avLst/>
          </a:prstGeom>
        </p:spPr>
      </p:pic>
    </p:spTree>
    <p:extLst>
      <p:ext uri="{BB962C8B-B14F-4D97-AF65-F5344CB8AC3E}">
        <p14:creationId xmlns:p14="http://schemas.microsoft.com/office/powerpoint/2010/main" val="718974786"/>
      </p:ext>
    </p:extLst>
  </p:cSld>
</p:sld>
</file>

<file path=ppt/slides/slide3.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26" name="text-3-0">
            <a:extLst xmlns:a="http://schemas.openxmlformats.org/drawingml/2006/main">
              <a:ext uri="{FF2B5EF4-FFF2-40B4-BE49-F238E27FC236}">
                <a16:creationId xmlns:a16="http://schemas.microsoft.com/office/drawing/2014/main" id="{4A8DED31-577D-4765-9B8E-E53F36440842}"/>
              </a:ext>
            </a:extLst>
          </p:cNvPr>
          <p:cNvSpPr>
            <a:spLocks xmlns:a="http://schemas.openxmlformats.org/drawingml/2006/main" noGrp="1"/>
          </p:cNvSpPr>
          <p:nvPr/>
        </p:nvSpPr>
        <p:spPr>
          <a:xfrm xmlns:a="http://schemas.openxmlformats.org/drawingml/2006/main">
            <a:off x="590550" y="4381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3F35"/>
                </a:solidFill>
                <a:latin typeface="Arial"/>
                <a:ea typeface="Arial"/>
                <a:cs typeface="Arial"/>
              </a:defRPr>
            </a:pPr>
            <a:r>
              <a:rPr sz="3225" b="1">
                <a:solidFill>
                  <a:srgbClr val="153F35"/>
                </a:solidFill>
                <a:latin typeface="Arial"/>
                <a:ea typeface="Arial"/>
                <a:cs typeface="Arial"/>
              </a:rPr>
              <a:t>DFD: offline model preparation</a:t>
            </a:r>
          </a:p>
        </p:txBody>
      </p:sp>
      <p:sp>
        <p:nvSpPr>
          <p:cNvPr id="2" name="text-3-1">
            <a:extLst xmlns:a="http://schemas.openxmlformats.org/drawingml/2006/main">
              <a:ext uri="{FF2B5EF4-FFF2-40B4-BE49-F238E27FC236}">
                <a16:creationId xmlns:a16="http://schemas.microsoft.com/office/drawing/2014/main" id="{F1D41073-1173-4B5C-AFB6-648037921D86}"/>
              </a:ext>
            </a:extLst>
          </p:cNvPr>
          <p:cNvSpPr>
            <a:spLocks xmlns:a="http://schemas.openxmlformats.org/drawingml/2006/main" noGrp="1"/>
          </p:cNvSpPr>
          <p:nvPr/>
        </p:nvSpPr>
        <p:spPr>
          <a:xfrm xmlns:a="http://schemas.openxmlformats.org/drawingml/2006/main">
            <a:off x="590550" y="647700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56B61"/>
                </a:solidFill>
                <a:latin typeface="Arial"/>
                <a:ea typeface="Arial"/>
                <a:cs typeface="Arial"/>
              </a:defRPr>
            </a:pPr>
            <a:r>
              <a:rPr sz="1200" b="0">
                <a:solidFill>
                  <a:srgbClr val="556B61"/>
                </a:solidFill>
                <a:latin typeface="Arial"/>
                <a:ea typeface="Arial"/>
                <a:cs typeface="Arial"/>
              </a:rPr>
              <a:t>DataForge 2026   /   BitWise   /   03</a:t>
            </a:r>
          </a:p>
        </p:txBody>
      </p:sp>
      <p:sp>
        <p:nvSpPr>
          <p:cNvPr id="3" name="text-3-2">
            <a:extLst xmlns:a="http://schemas.openxmlformats.org/drawingml/2006/main">
              <a:ext uri="{FF2B5EF4-FFF2-40B4-BE49-F238E27FC236}">
                <a16:creationId xmlns:a16="http://schemas.microsoft.com/office/drawing/2014/main" id="{1C14DFD1-A5B3-4F7F-AAFC-21476167500B}"/>
              </a:ext>
            </a:extLst>
          </p:cNvPr>
          <p:cNvSpPr>
            <a:spLocks xmlns:a="http://schemas.openxmlformats.org/drawingml/2006/main" noGrp="1"/>
          </p:cNvSpPr>
          <p:nvPr/>
        </p:nvSpPr>
        <p:spPr>
          <a:xfrm xmlns:a="http://schemas.openxmlformats.org/drawingml/2006/main">
            <a:off x="590550" y="60388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56B61"/>
                </a:solidFill>
                <a:latin typeface="Arial"/>
                <a:ea typeface="Arial"/>
                <a:cs typeface="Arial"/>
              </a:defRPr>
            </a:pPr>
            <a:r>
              <a:rPr sz="1275" b="0">
                <a:solidFill>
                  <a:srgbClr val="556B61"/>
                </a:solidFill>
                <a:latin typeface="Arial"/>
                <a:ea typeface="Arial"/>
                <a:cs typeface="Arial"/>
              </a:rPr>
              <a:t>Training rows update weights. Held-out rows evaluate them. Application startup never invokes this path.</a:t>
            </a:r>
          </a:p>
        </p:txBody>
      </p:sp>
      <p:sp>
        <p:nvSpPr>
          <p:cNvPr id="4" name="E3">
            <a:extLst xmlns:a="http://schemas.openxmlformats.org/drawingml/2006/main">
              <a:ext uri="{FF2B5EF4-FFF2-40B4-BE49-F238E27FC236}">
                <a16:creationId xmlns:a16="http://schemas.microsoft.com/office/drawing/2014/main" id="{3E269DFD-8FC0-48EF-96F4-08F61801F181}"/>
              </a:ext>
            </a:extLst>
          </p:cNvPr>
          <p:cNvSpPr>
            <a:spLocks xmlns:a="http://schemas.openxmlformats.org/drawingml/2006/main" noGrp="1"/>
          </p:cNvSpPr>
          <p:nvPr/>
        </p:nvSpPr>
        <p:spPr>
          <a:xfrm xmlns:a="http://schemas.openxmlformats.org/drawingml/2006/main">
            <a:off x="590550" y="1524000"/>
            <a:ext cx="2714625"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37684B"/>
            </a:solidFill>
          </a:ln>
        </p:spPr>
        <p:txBody>
          <a:bodyPr xmlns:a="http://schemas.openxmlformats.org/drawingml/2006/main" lIns="85725" tIns="85725" rIns="85725" bIns="66675" anchor="ctr">
            <a:noAutofit/>
          </a:bodyPr>
          <a:lstStyle xmlns:a="http://schemas.openxmlformats.org/drawingml/2006/main"/>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E3</a:t>
            </a:r>
          </a:p>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Bundled digit images</a:t>
            </a:r>
          </a:p>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and original labels</a:t>
            </a:r>
          </a:p>
        </p:txBody>
      </p:sp>
      <p:sp>
        <p:nvSpPr>
          <p:cNvPr id="5" name="P1">
            <a:extLst xmlns:a="http://schemas.openxmlformats.org/drawingml/2006/main">
              <a:ext uri="{FF2B5EF4-FFF2-40B4-BE49-F238E27FC236}">
                <a16:creationId xmlns:a16="http://schemas.microsoft.com/office/drawing/2014/main" id="{72319B9B-39D0-4828-9DA2-7308088B0C2D}"/>
              </a:ext>
            </a:extLst>
          </p:cNvPr>
          <p:cNvSpPr>
            <a:spLocks xmlns:a="http://schemas.openxmlformats.org/drawingml/2006/main" noGrp="1"/>
          </p:cNvSpPr>
          <p:nvPr/>
        </p:nvSpPr>
        <p:spPr>
          <a:xfrm xmlns:a="http://schemas.openxmlformats.org/drawingml/2006/main">
            <a:off x="4762500" y="1524000"/>
            <a:ext cx="2667000" cy="1047750"/>
          </a:xfrm>
          <a:prstGeom xmlns:a="http://schemas.openxmlformats.org/drawingml/2006/main" prst="roundRect">
            <a:avLst>
              <a:gd name="adj" fmla="val 7273"/>
            </a:avLst>
          </a:prstGeom>
          <a:solidFill xmlns:a="http://schemas.openxmlformats.org/drawingml/2006/main">
            <a:srgbClr val="E7EDE1"/>
          </a:solidFill>
          <a:ln xmlns:a="http://schemas.openxmlformats.org/drawingml/2006/main" w="19050">
            <a:solidFill>
              <a:srgbClr val="37684B"/>
            </a:solidFill>
          </a:ln>
        </p:spPr>
        <p:txBody>
          <a:bodyPr xmlns:a="http://schemas.openxmlformats.org/drawingml/2006/main" lIns="85725" tIns="85725" rIns="85725" bIns="66675" anchor="ctr">
            <a:noAutofit/>
          </a:bodyPr>
          <a:lstStyle xmlns:a="http://schemas.openxmlformats.org/drawingml/2006/main"/>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P1</a:t>
            </a:r>
          </a:p>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Normalize /16</a:t>
            </a:r>
          </a:p>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and stratify IDs</a:t>
            </a:r>
          </a:p>
        </p:txBody>
      </p:sp>
      <p:sp>
        <p:nvSpPr>
          <p:cNvPr id="6" name="D1">
            <a:extLst xmlns:a="http://schemas.openxmlformats.org/drawingml/2006/main">
              <a:ext uri="{FF2B5EF4-FFF2-40B4-BE49-F238E27FC236}">
                <a16:creationId xmlns:a16="http://schemas.microsoft.com/office/drawing/2014/main" id="{6D8B1C23-C443-4693-ACFA-5C2B5B15E0A5}"/>
              </a:ext>
            </a:extLst>
          </p:cNvPr>
          <p:cNvSpPr>
            <a:spLocks xmlns:a="http://schemas.openxmlformats.org/drawingml/2006/main" noGrp="1"/>
          </p:cNvSpPr>
          <p:nvPr/>
        </p:nvSpPr>
        <p:spPr>
          <a:xfrm xmlns:a="http://schemas.openxmlformats.org/drawingml/2006/main">
            <a:off x="8924925" y="1524000"/>
            <a:ext cx="2667000" cy="1238250"/>
          </a:xfrm>
          <a:prstGeom xmlns:a="http://schemas.openxmlformats.org/drawingml/2006/main" prst="can">
            <a:avLst/>
          </a:prstGeom>
          <a:solidFill xmlns:a="http://schemas.openxmlformats.org/drawingml/2006/main">
            <a:srgbClr val="D5E5A9"/>
          </a:solidFill>
          <a:ln xmlns:a="http://schemas.openxmlformats.org/drawingml/2006/main" w="19050">
            <a:solidFill>
              <a:srgbClr val="37684B"/>
            </a:solidFill>
          </a:ln>
        </p:spPr>
        <p:txBody>
          <a:bodyPr xmlns:a="http://schemas.openxmlformats.org/drawingml/2006/main" lIns="85725" tIns="285750" rIns="85725" bIns="66675" anchor="ctr">
            <a:noAutofit/>
          </a:bodyPr>
          <a:lstStyle xmlns:a="http://schemas.openxmlformats.org/drawingml/2006/main"/>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D1</a:t>
            </a:r>
          </a:p>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Training split</a:t>
            </a:r>
          </a:p>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1,347 original IDs</a:t>
            </a:r>
          </a:p>
        </p:txBody>
      </p:sp>
      <p:sp>
        <p:nvSpPr>
          <p:cNvPr id="7" name="D2">
            <a:extLst xmlns:a="http://schemas.openxmlformats.org/drawingml/2006/main">
              <a:ext uri="{FF2B5EF4-FFF2-40B4-BE49-F238E27FC236}">
                <a16:creationId xmlns:a16="http://schemas.microsoft.com/office/drawing/2014/main" id="{E9254101-A6C8-4EF1-8F7C-0AF280EAC3F6}"/>
              </a:ext>
            </a:extLst>
          </p:cNvPr>
          <p:cNvSpPr>
            <a:spLocks xmlns:a="http://schemas.openxmlformats.org/drawingml/2006/main" noGrp="1"/>
          </p:cNvSpPr>
          <p:nvPr/>
        </p:nvSpPr>
        <p:spPr>
          <a:xfrm xmlns:a="http://schemas.openxmlformats.org/drawingml/2006/main">
            <a:off x="4762500" y="4267200"/>
            <a:ext cx="2667000" cy="1238250"/>
          </a:xfrm>
          <a:prstGeom xmlns:a="http://schemas.openxmlformats.org/drawingml/2006/main" prst="can">
            <a:avLst/>
          </a:prstGeom>
          <a:solidFill xmlns:a="http://schemas.openxmlformats.org/drawingml/2006/main">
            <a:srgbClr val="D5E5A9"/>
          </a:solidFill>
          <a:ln xmlns:a="http://schemas.openxmlformats.org/drawingml/2006/main" w="19050">
            <a:solidFill>
              <a:srgbClr val="37684B"/>
            </a:solidFill>
          </a:ln>
        </p:spPr>
        <p:txBody>
          <a:bodyPr xmlns:a="http://schemas.openxmlformats.org/drawingml/2006/main" lIns="85725" tIns="285750" rIns="85725" bIns="66675" anchor="ctr">
            <a:noAutofit/>
          </a:bodyPr>
          <a:lstStyle xmlns:a="http://schemas.openxmlformats.org/drawingml/2006/main"/>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D2</a:t>
            </a:r>
          </a:p>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Held-out split</a:t>
            </a:r>
          </a:p>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450 original IDs</a:t>
            </a:r>
          </a:p>
        </p:txBody>
      </p:sp>
      <p:sp>
        <p:nvSpPr>
          <p:cNvPr id="8" name="P2">
            <a:extLst xmlns:a="http://schemas.openxmlformats.org/drawingml/2006/main">
              <a:ext uri="{FF2B5EF4-FFF2-40B4-BE49-F238E27FC236}">
                <a16:creationId xmlns:a16="http://schemas.microsoft.com/office/drawing/2014/main" id="{DA5A8DFD-6C84-4B98-AD75-299E59A881F1}"/>
              </a:ext>
            </a:extLst>
          </p:cNvPr>
          <p:cNvSpPr>
            <a:spLocks xmlns:a="http://schemas.openxmlformats.org/drawingml/2006/main" noGrp="1"/>
          </p:cNvSpPr>
          <p:nvPr/>
        </p:nvSpPr>
        <p:spPr>
          <a:xfrm xmlns:a="http://schemas.openxmlformats.org/drawingml/2006/main">
            <a:off x="8924925" y="4267200"/>
            <a:ext cx="2667000" cy="1047750"/>
          </a:xfrm>
          <a:prstGeom xmlns:a="http://schemas.openxmlformats.org/drawingml/2006/main" prst="roundRect">
            <a:avLst>
              <a:gd name="adj" fmla="val 7273"/>
            </a:avLst>
          </a:prstGeom>
          <a:solidFill xmlns:a="http://schemas.openxmlformats.org/drawingml/2006/main">
            <a:srgbClr val="E7EDE1"/>
          </a:solidFill>
          <a:ln xmlns:a="http://schemas.openxmlformats.org/drawingml/2006/main" w="19050">
            <a:solidFill>
              <a:srgbClr val="37684B"/>
            </a:solidFill>
          </a:ln>
        </p:spPr>
        <p:txBody>
          <a:bodyPr xmlns:a="http://schemas.openxmlformats.org/drawingml/2006/main" lIns="85725" tIns="85725" rIns="85725" bIns="66675" anchor="ctr">
            <a:noAutofit/>
          </a:bodyPr>
          <a:lstStyle xmlns:a="http://schemas.openxmlformats.org/drawingml/2006/main"/>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P2</a:t>
            </a:r>
          </a:p>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Train encoder + head</a:t>
            </a:r>
          </a:p>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100 fixed epochs</a:t>
            </a:r>
          </a:p>
        </p:txBody>
      </p:sp>
      <p:sp>
        <p:nvSpPr>
          <p:cNvPr id="9" name="D3">
            <a:extLst xmlns:a="http://schemas.openxmlformats.org/drawingml/2006/main">
              <a:ext uri="{FF2B5EF4-FFF2-40B4-BE49-F238E27FC236}">
                <a16:creationId xmlns:a16="http://schemas.microsoft.com/office/drawing/2014/main" id="{7884B925-871E-488C-993A-D9D5C0CBE544}"/>
              </a:ext>
            </a:extLst>
          </p:cNvPr>
          <p:cNvSpPr>
            <a:spLocks xmlns:a="http://schemas.openxmlformats.org/drawingml/2006/main" noGrp="1"/>
          </p:cNvSpPr>
          <p:nvPr/>
        </p:nvSpPr>
        <p:spPr>
          <a:xfrm xmlns:a="http://schemas.openxmlformats.org/drawingml/2006/main">
            <a:off x="590550" y="4267200"/>
            <a:ext cx="2952750" cy="1238250"/>
          </a:xfrm>
          <a:prstGeom xmlns:a="http://schemas.openxmlformats.org/drawingml/2006/main" prst="can">
            <a:avLst/>
          </a:prstGeom>
          <a:solidFill xmlns:a="http://schemas.openxmlformats.org/drawingml/2006/main">
            <a:srgbClr val="D5E5A9"/>
          </a:solidFill>
          <a:ln xmlns:a="http://schemas.openxmlformats.org/drawingml/2006/main" w="19050">
            <a:solidFill>
              <a:srgbClr val="37684B"/>
            </a:solidFill>
          </a:ln>
        </p:spPr>
        <p:txBody>
          <a:bodyPr xmlns:a="http://schemas.openxmlformats.org/drawingml/2006/main" lIns="85725" tIns="285750" rIns="85725" bIns="66675" anchor="ctr">
            <a:noAutofit/>
          </a:bodyPr>
          <a:lstStyle xmlns:a="http://schemas.openxmlformats.org/drawingml/2006/main"/>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D3</a:t>
            </a:r>
          </a:p>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encoder.pt + metadata</a:t>
            </a:r>
          </a:p>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weights, split, fingerprint</a:t>
            </a:r>
          </a:p>
        </p:txBody>
      </p:sp>
      <p:cxnSp>
        <p:nvCxnSpPr>
          <p:cNvPr id="35" name=""/>
          <p:cNvCxnSpPr>
            <a:stCxn xmlns:a="http://schemas.openxmlformats.org/drawingml/2006/main" id="4" idx="3"/>
            <a:endCxn xmlns:a="http://schemas.openxmlformats.org/drawingml/2006/main" id="5" idx="1"/>
          </p:cNvCxnSpPr>
          <p:nvPr/>
        </p:nvCxnSpPr>
        <p:spPr>
          <a:xfrm xmlns:a="http://schemas.openxmlformats.org/drawingml/2006/main">
            <a:off x="3305175" y="2047875"/>
            <a:ext cx="1457325" cy="0"/>
          </a:xfrm>
          <a:prstGeom xmlns:a="http://schemas.openxmlformats.org/drawingml/2006/main" prst="straightConnector1">
            <a:avLst/>
          </a:prstGeom>
          <a:ln xmlns:a="http://schemas.openxmlformats.org/drawingml/2006/main" w="19050">
            <a:solidFill>
              <a:srgbClr val="37684B"/>
            </a:solidFill>
            <a:tailEnd type="triangle" w="med" len="med"/>
          </a:ln>
        </p:spPr>
      </p:cxnSp>
      <p:sp>
        <p:nvSpPr>
          <p:cNvPr id="11" name="text-3-10">
            <a:extLst xmlns:a="http://schemas.openxmlformats.org/drawingml/2006/main">
              <a:ext uri="{FF2B5EF4-FFF2-40B4-BE49-F238E27FC236}">
                <a16:creationId xmlns:a16="http://schemas.microsoft.com/office/drawing/2014/main" id="{8FD49913-6BB2-4D33-A401-8F63EF4558B1}"/>
              </a:ext>
            </a:extLst>
          </p:cNvPr>
          <p:cNvSpPr>
            <a:spLocks xmlns:a="http://schemas.openxmlformats.org/drawingml/2006/main" noGrp="1"/>
          </p:cNvSpPr>
          <p:nvPr/>
        </p:nvSpPr>
        <p:spPr>
          <a:xfrm xmlns:a="http://schemas.openxmlformats.org/drawingml/2006/main">
            <a:off x="3333750" y="15049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Features and labels</a:t>
            </a:r>
          </a:p>
        </p:txBody>
      </p:sp>
      <p:cxnSp>
        <p:nvCxnSpPr>
          <p:cNvPr id="37" name=""/>
          <p:cNvCxnSpPr>
            <a:stCxn xmlns:a="http://schemas.openxmlformats.org/drawingml/2006/main" id="5" idx="3"/>
            <a:endCxn xmlns:a="http://schemas.openxmlformats.org/drawingml/2006/main" id="6" idx="2"/>
          </p:cNvCxnSpPr>
          <p:nvPr/>
        </p:nvCxnSpPr>
        <p:spPr>
          <a:xfrm xmlns:a="http://schemas.openxmlformats.org/drawingml/2006/main">
            <a:off x="7429500" y="2047875"/>
            <a:ext cx="1495425" cy="95250"/>
          </a:xfrm>
          <a:prstGeom xmlns:a="http://schemas.openxmlformats.org/drawingml/2006/main" prst="straightConnector1">
            <a:avLst/>
          </a:prstGeom>
          <a:ln xmlns:a="http://schemas.openxmlformats.org/drawingml/2006/main" w="19050">
            <a:solidFill>
              <a:srgbClr val="37684B"/>
            </a:solidFill>
            <a:tailEnd type="triangle" w="med" len="med"/>
          </a:ln>
        </p:spPr>
      </p:cxnSp>
      <p:sp>
        <p:nvSpPr>
          <p:cNvPr id="13" name="text-3-12">
            <a:extLst xmlns:a="http://schemas.openxmlformats.org/drawingml/2006/main">
              <a:ext uri="{FF2B5EF4-FFF2-40B4-BE49-F238E27FC236}">
                <a16:creationId xmlns:a16="http://schemas.microsoft.com/office/drawing/2014/main" id="{E556DC9B-A76B-44F8-AF05-5CE991696B5C}"/>
              </a:ext>
            </a:extLst>
          </p:cNvPr>
          <p:cNvSpPr>
            <a:spLocks xmlns:a="http://schemas.openxmlformats.org/drawingml/2006/main" noGrp="1"/>
          </p:cNvSpPr>
          <p:nvPr/>
        </p:nvSpPr>
        <p:spPr>
          <a:xfrm xmlns:a="http://schemas.openxmlformats.org/drawingml/2006/main">
            <a:off x="7486650" y="15049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Training partition</a:t>
            </a:r>
          </a:p>
        </p:txBody>
      </p:sp>
      <p:cxnSp>
        <p:nvCxnSpPr>
          <p:cNvPr id="39" name=""/>
          <p:cNvCxnSpPr>
            <a:stCxn xmlns:a="http://schemas.openxmlformats.org/drawingml/2006/main" id="5" idx="2"/>
            <a:endCxn xmlns:a="http://schemas.openxmlformats.org/drawingml/2006/main" id="7" idx="1"/>
          </p:cNvCxnSpPr>
          <p:nvPr/>
        </p:nvCxnSpPr>
        <p:spPr>
          <a:xfrm xmlns:a="http://schemas.openxmlformats.org/drawingml/2006/main">
            <a:off x="6096000" y="2571750"/>
            <a:ext cx="0" cy="1695450"/>
          </a:xfrm>
          <a:prstGeom xmlns:a="http://schemas.openxmlformats.org/drawingml/2006/main" prst="straightConnector1">
            <a:avLst/>
          </a:prstGeom>
          <a:ln xmlns:a="http://schemas.openxmlformats.org/drawingml/2006/main" w="19050">
            <a:solidFill>
              <a:srgbClr val="37684B"/>
            </a:solidFill>
            <a:tailEnd type="triangle" w="med" len="med"/>
          </a:ln>
        </p:spPr>
      </p:cxnSp>
      <p:sp>
        <p:nvSpPr>
          <p:cNvPr id="15" name="text-3-14">
            <a:extLst xmlns:a="http://schemas.openxmlformats.org/drawingml/2006/main">
              <a:ext uri="{FF2B5EF4-FFF2-40B4-BE49-F238E27FC236}">
                <a16:creationId xmlns:a16="http://schemas.microsoft.com/office/drawing/2014/main" id="{62036C99-91E8-41F5-BA26-3EE5A21CE35C}"/>
              </a:ext>
            </a:extLst>
          </p:cNvPr>
          <p:cNvSpPr>
            <a:spLocks xmlns:a="http://schemas.openxmlformats.org/drawingml/2006/main" noGrp="1"/>
          </p:cNvSpPr>
          <p:nvPr/>
        </p:nvSpPr>
        <p:spPr>
          <a:xfrm xmlns:a="http://schemas.openxmlformats.org/drawingml/2006/main">
            <a:off x="4781550" y="3143250"/>
            <a:ext cx="2619375" cy="419100"/>
          </a:xfrm>
          <a:prstGeom xmlns:a="http://schemas.openxmlformats.org/drawingml/2006/main" prst="rect">
            <a:avLst/>
          </a:prstGeom>
          <a:solidFill xmlns:a="http://schemas.openxmlformats.org/drawingml/2006/main">
            <a:srgbClr val="F5F5EE"/>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Held-out partition</a:t>
            </a:r>
          </a:p>
        </p:txBody>
      </p:sp>
      <p:cxnSp>
        <p:nvCxnSpPr>
          <p:cNvPr id="41" name=""/>
          <p:cNvCxnSpPr>
            <a:stCxn xmlns:a="http://schemas.openxmlformats.org/drawingml/2006/main" id="6" idx="3"/>
            <a:endCxn xmlns:a="http://schemas.openxmlformats.org/drawingml/2006/main" id="8" idx="0"/>
          </p:cNvCxnSpPr>
          <p:nvPr/>
        </p:nvCxnSpPr>
        <p:spPr>
          <a:xfrm xmlns:a="http://schemas.openxmlformats.org/drawingml/2006/main">
            <a:off x="10258425" y="2762250"/>
            <a:ext cx="0" cy="1504950"/>
          </a:xfrm>
          <a:prstGeom xmlns:a="http://schemas.openxmlformats.org/drawingml/2006/main" prst="straightConnector1">
            <a:avLst/>
          </a:prstGeom>
          <a:ln xmlns:a="http://schemas.openxmlformats.org/drawingml/2006/main" w="19050">
            <a:solidFill>
              <a:srgbClr val="37684B"/>
            </a:solidFill>
            <a:tailEnd type="triangle" w="med" len="med"/>
          </a:ln>
        </p:spPr>
      </p:cxnSp>
      <p:sp>
        <p:nvSpPr>
          <p:cNvPr id="17" name="text-3-16">
            <a:extLst xmlns:a="http://schemas.openxmlformats.org/drawingml/2006/main">
              <a:ext uri="{FF2B5EF4-FFF2-40B4-BE49-F238E27FC236}">
                <a16:creationId xmlns:a16="http://schemas.microsoft.com/office/drawing/2014/main" id="{69864333-DE3E-471D-B72B-8DD571F99DEE}"/>
              </a:ext>
            </a:extLst>
          </p:cNvPr>
          <p:cNvSpPr>
            <a:spLocks xmlns:a="http://schemas.openxmlformats.org/drawingml/2006/main" noGrp="1"/>
          </p:cNvSpPr>
          <p:nvPr/>
        </p:nvSpPr>
        <p:spPr>
          <a:xfrm xmlns:a="http://schemas.openxmlformats.org/drawingml/2006/main">
            <a:off x="9172575" y="3143250"/>
            <a:ext cx="2152650" cy="419100"/>
          </a:xfrm>
          <a:prstGeom xmlns:a="http://schemas.openxmlformats.org/drawingml/2006/main" prst="rect">
            <a:avLst/>
          </a:prstGeom>
          <a:solidFill xmlns:a="http://schemas.openxmlformats.org/drawingml/2006/main">
            <a:srgbClr val="F5F5EE"/>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Optimizer inputs</a:t>
            </a:r>
          </a:p>
        </p:txBody>
      </p:sp>
      <p:sp>
        <p:nvSpPr>
          <p:cNvPr id="18" name="">
            <a:extLst xmlns:a="http://schemas.openxmlformats.org/drawingml/2006/main">
              <a:ext uri="{FF2B5EF4-FFF2-40B4-BE49-F238E27FC236}">
                <a16:creationId xmlns:a16="http://schemas.microsoft.com/office/drawing/2014/main" id="{B9FE87DF-C698-4E13-B6C3-370B2BC61DAE}"/>
              </a:ext>
            </a:extLst>
          </p:cNvPr>
          <p:cNvSpPr>
            <a:spLocks xmlns:a="http://schemas.openxmlformats.org/drawingml/2006/main" noGrp="1"/>
          </p:cNvSpPr>
          <p:nvPr/>
        </p:nvSpPr>
        <p:spPr>
          <a:xfrm xmlns:a="http://schemas.openxmlformats.org/drawingml/2006/main">
            <a:off x="10253663" y="56530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4" name=""/>
          <p:cNvCxnSpPr>
            <a:stCxn xmlns:a="http://schemas.openxmlformats.org/drawingml/2006/main" id="8" idx="2"/>
            <a:endCxn xmlns:a="http://schemas.openxmlformats.org/drawingml/2006/main" id="18" idx="0"/>
          </p:cNvCxnSpPr>
          <p:nvPr/>
        </p:nvCxnSpPr>
        <p:spPr>
          <a:xfrm xmlns:a="http://schemas.openxmlformats.org/drawingml/2006/main">
            <a:off x="10258425" y="5314950"/>
            <a:ext cx="0" cy="338138"/>
          </a:xfrm>
          <a:prstGeom xmlns:a="http://schemas.openxmlformats.org/drawingml/2006/main" prst="straightConnector1">
            <a:avLst/>
          </a:prstGeom>
          <a:ln xmlns:a="http://schemas.openxmlformats.org/drawingml/2006/main" w="19050">
            <a:solidFill>
              <a:srgbClr val="37684B"/>
            </a:solidFill>
          </a:ln>
        </p:spPr>
      </p:cxnSp>
      <p:sp>
        <p:nvSpPr>
          <p:cNvPr id="20" name="">
            <a:extLst xmlns:a="http://schemas.openxmlformats.org/drawingml/2006/main">
              <a:ext uri="{FF2B5EF4-FFF2-40B4-BE49-F238E27FC236}">
                <a16:creationId xmlns:a16="http://schemas.microsoft.com/office/drawing/2014/main" id="{FFE7A60A-A531-4AF5-BEEA-4B3A16302312}"/>
              </a:ext>
            </a:extLst>
          </p:cNvPr>
          <p:cNvSpPr>
            <a:spLocks xmlns:a="http://schemas.openxmlformats.org/drawingml/2006/main" noGrp="1"/>
          </p:cNvSpPr>
          <p:nvPr/>
        </p:nvSpPr>
        <p:spPr>
          <a:xfrm xmlns:a="http://schemas.openxmlformats.org/drawingml/2006/main">
            <a:off x="2062163" y="56530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6" name=""/>
          <p:cNvCxnSpPr>
            <a:stCxn xmlns:a="http://schemas.openxmlformats.org/drawingml/2006/main" id="18" idx="1"/>
            <a:endCxn xmlns:a="http://schemas.openxmlformats.org/drawingml/2006/main" id="20" idx="3"/>
          </p:cNvCxnSpPr>
          <p:nvPr/>
        </p:nvCxnSpPr>
        <p:spPr>
          <a:xfrm xmlns:a="http://schemas.openxmlformats.org/drawingml/2006/main" flipH="1">
            <a:off x="2071688" y="5657851"/>
            <a:ext cx="8181975" cy="0"/>
          </a:xfrm>
          <a:prstGeom xmlns:a="http://schemas.openxmlformats.org/drawingml/2006/main" prst="straightConnector1">
            <a:avLst/>
          </a:prstGeom>
          <a:ln xmlns:a="http://schemas.openxmlformats.org/drawingml/2006/main" w="19050">
            <a:solidFill>
              <a:srgbClr val="37684B"/>
            </a:solidFill>
          </a:ln>
        </p:spPr>
      </p:cxnSp>
      <p:cxnSp>
        <p:nvCxnSpPr>
          <p:cNvPr id="47" name=""/>
          <p:cNvCxnSpPr>
            <a:stCxn xmlns:a="http://schemas.openxmlformats.org/drawingml/2006/main" id="20" idx="0"/>
            <a:endCxn xmlns:a="http://schemas.openxmlformats.org/drawingml/2006/main" id="9" idx="3"/>
          </p:cNvCxnSpPr>
          <p:nvPr/>
        </p:nvCxnSpPr>
        <p:spPr>
          <a:xfrm xmlns:a="http://schemas.openxmlformats.org/drawingml/2006/main" flipH="1" flipV="1">
            <a:off x="2066925" y="5505450"/>
            <a:ext cx="0" cy="147638"/>
          </a:xfrm>
          <a:prstGeom xmlns:a="http://schemas.openxmlformats.org/drawingml/2006/main" prst="straightConnector1">
            <a:avLst/>
          </a:prstGeom>
          <a:ln xmlns:a="http://schemas.openxmlformats.org/drawingml/2006/main" w="19050">
            <a:solidFill>
              <a:srgbClr val="37684B"/>
            </a:solidFill>
            <a:tailEnd type="triangle" w="med" len="med"/>
          </a:ln>
        </p:spPr>
      </p:cxnSp>
      <p:sp>
        <p:nvSpPr>
          <p:cNvPr id="23" name="text-3-22">
            <a:extLst xmlns:a="http://schemas.openxmlformats.org/drawingml/2006/main">
              <a:ext uri="{FF2B5EF4-FFF2-40B4-BE49-F238E27FC236}">
                <a16:creationId xmlns:a16="http://schemas.microsoft.com/office/drawing/2014/main" id="{31F15B3C-6AA2-4BC9-841C-36335192D825}"/>
              </a:ext>
            </a:extLst>
          </p:cNvPr>
          <p:cNvSpPr>
            <a:spLocks xmlns:a="http://schemas.openxmlformats.org/drawingml/2006/main" noGrp="1"/>
          </p:cNvSpPr>
          <p:nvPr/>
        </p:nvSpPr>
        <p:spPr>
          <a:xfrm xmlns:a="http://schemas.openxmlformats.org/drawingml/2006/main">
            <a:off x="3714750" y="572452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Saved weights and training report</a:t>
            </a:r>
          </a:p>
        </p:txBody>
      </p:sp>
      <p:cxnSp>
        <p:nvCxnSpPr>
          <p:cNvPr id="49" name=""/>
          <p:cNvCxnSpPr>
            <a:stCxn xmlns:a="http://schemas.openxmlformats.org/drawingml/2006/main" id="7" idx="4"/>
            <a:endCxn xmlns:a="http://schemas.openxmlformats.org/drawingml/2006/main" id="8" idx="1"/>
          </p:cNvCxnSpPr>
          <p:nvPr/>
        </p:nvCxnSpPr>
        <p:spPr>
          <a:xfrm xmlns:a="http://schemas.openxmlformats.org/drawingml/2006/main" flipV="1">
            <a:off x="7429500" y="4791075"/>
            <a:ext cx="1495425" cy="95250"/>
          </a:xfrm>
          <a:prstGeom xmlns:a="http://schemas.openxmlformats.org/drawingml/2006/main" prst="straightConnector1">
            <a:avLst/>
          </a:prstGeom>
          <a:ln xmlns:a="http://schemas.openxmlformats.org/drawingml/2006/main" w="19050">
            <a:solidFill>
              <a:srgbClr val="37684B"/>
            </a:solidFill>
            <a:tailEnd type="triangle" w="med" len="med"/>
          </a:ln>
        </p:spPr>
      </p:cxnSp>
      <p:sp>
        <p:nvSpPr>
          <p:cNvPr id="25" name="text-3-24">
            <a:extLst xmlns:a="http://schemas.openxmlformats.org/drawingml/2006/main">
              <a:ext uri="{FF2B5EF4-FFF2-40B4-BE49-F238E27FC236}">
                <a16:creationId xmlns:a16="http://schemas.microsoft.com/office/drawing/2014/main" id="{2C22B8F5-029C-4166-8F8C-364F2C424CCB}"/>
              </a:ext>
            </a:extLst>
          </p:cNvPr>
          <p:cNvSpPr>
            <a:spLocks xmlns:a="http://schemas.openxmlformats.org/drawingml/2006/main" noGrp="1"/>
          </p:cNvSpPr>
          <p:nvPr/>
        </p:nvSpPr>
        <p:spPr>
          <a:xfrm xmlns:a="http://schemas.openxmlformats.org/drawingml/2006/main">
            <a:off x="7486650" y="4295775"/>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Sanity evaluation</a:t>
            </a:r>
          </a:p>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(no updates)</a:t>
            </a:r>
          </a:p>
        </p:txBody>
      </p:sp>
    </p:spTree>
    <p:extLst>
      <p:ext uri="{BB962C8B-B14F-4D97-AF65-F5344CB8AC3E}">
        <p14:creationId xmlns:p14="http://schemas.microsoft.com/office/powerpoint/2010/main" val="745249"/>
      </p:ext>
    </p:extLst>
  </p:cSld>
</p:sld>
</file>

<file path=ppt/slides/slide4.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29" name="text-4-0">
            <a:extLst xmlns:a="http://schemas.openxmlformats.org/drawingml/2006/main">
              <a:ext uri="{FF2B5EF4-FFF2-40B4-BE49-F238E27FC236}">
                <a16:creationId xmlns:a16="http://schemas.microsoft.com/office/drawing/2014/main" id="{F6186CFF-D5FB-46EB-9D67-5EFE3DA7EDA3}"/>
              </a:ext>
            </a:extLst>
          </p:cNvPr>
          <p:cNvSpPr>
            <a:spLocks xmlns:a="http://schemas.openxmlformats.org/drawingml/2006/main" noGrp="1"/>
          </p:cNvSpPr>
          <p:nvPr/>
        </p:nvSpPr>
        <p:spPr>
          <a:xfrm xmlns:a="http://schemas.openxmlformats.org/drawingml/2006/main">
            <a:off x="590550" y="4381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3F35"/>
                </a:solidFill>
                <a:latin typeface="Arial"/>
                <a:ea typeface="Arial"/>
                <a:cs typeface="Arial"/>
              </a:defRPr>
            </a:pPr>
            <a:r>
              <a:rPr sz="3225" b="1">
                <a:solidFill>
                  <a:srgbClr val="153F35"/>
                </a:solidFill>
                <a:latin typeface="Arial"/>
                <a:ea typeface="Arial"/>
                <a:cs typeface="Arial"/>
              </a:rPr>
              <a:t>DFD: session memory, retrieval and audit</a:t>
            </a:r>
          </a:p>
        </p:txBody>
      </p:sp>
      <p:sp>
        <p:nvSpPr>
          <p:cNvPr id="2" name="text-4-1">
            <a:extLst xmlns:a="http://schemas.openxmlformats.org/drawingml/2006/main">
              <a:ext uri="{FF2B5EF4-FFF2-40B4-BE49-F238E27FC236}">
                <a16:creationId xmlns:a16="http://schemas.microsoft.com/office/drawing/2014/main" id="{0D7285D8-D3F4-4A29-B5B0-D5D6D9AB2B91}"/>
              </a:ext>
            </a:extLst>
          </p:cNvPr>
          <p:cNvSpPr>
            <a:spLocks xmlns:a="http://schemas.openxmlformats.org/drawingml/2006/main" noGrp="1"/>
          </p:cNvSpPr>
          <p:nvPr/>
        </p:nvSpPr>
        <p:spPr>
          <a:xfrm xmlns:a="http://schemas.openxmlformats.org/drawingml/2006/main">
            <a:off x="590550" y="647700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56B61"/>
                </a:solidFill>
                <a:latin typeface="Arial"/>
                <a:ea typeface="Arial"/>
                <a:cs typeface="Arial"/>
              </a:defRPr>
            </a:pPr>
            <a:r>
              <a:rPr sz="1200" b="0">
                <a:solidFill>
                  <a:srgbClr val="556B61"/>
                </a:solidFill>
                <a:latin typeface="Arial"/>
                <a:ea typeface="Arial"/>
                <a:cs typeface="Arial"/>
              </a:rPr>
              <a:t>DataForge 2026   /   BitWise   /   04</a:t>
            </a:r>
          </a:p>
        </p:txBody>
      </p:sp>
      <p:sp>
        <p:nvSpPr>
          <p:cNvPr id="3" name="text-4-2">
            <a:extLst xmlns:a="http://schemas.openxmlformats.org/drawingml/2006/main">
              <a:ext uri="{FF2B5EF4-FFF2-40B4-BE49-F238E27FC236}">
                <a16:creationId xmlns:a16="http://schemas.microsoft.com/office/drawing/2014/main" id="{638F30C1-03DF-42C6-8638-FCBB962D5BEF}"/>
              </a:ext>
            </a:extLst>
          </p:cNvPr>
          <p:cNvSpPr>
            <a:spLocks xmlns:a="http://schemas.openxmlformats.org/drawingml/2006/main" noGrp="1"/>
          </p:cNvSpPr>
          <p:nvPr/>
        </p:nvSpPr>
        <p:spPr>
          <a:xfrm xmlns:a="http://schemas.openxmlformats.org/drawingml/2006/main">
            <a:off x="590550" y="60388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56B61"/>
                </a:solidFill>
                <a:latin typeface="Arial"/>
                <a:ea typeface="Arial"/>
                <a:cs typeface="Arial"/>
              </a:defRPr>
            </a:pPr>
            <a:r>
              <a:rPr sz="1275" b="0">
                <a:solidFill>
                  <a:srgbClr val="556B61"/>
                </a:solidFill>
                <a:latin typeface="Arial"/>
                <a:ea typeface="Arial"/>
                <a:cs typeface="Arial"/>
              </a:rPr>
              <a:t>D6 is volatile session state. Reset zeros sums/counts. Next Query changes the cursor without a memory write.</a:t>
            </a:r>
          </a:p>
        </p:txBody>
      </p:sp>
      <p:sp>
        <p:nvSpPr>
          <p:cNvPr id="4" name="D5">
            <a:extLst xmlns:a="http://schemas.openxmlformats.org/drawingml/2006/main">
              <a:ext uri="{FF2B5EF4-FFF2-40B4-BE49-F238E27FC236}">
                <a16:creationId xmlns:a16="http://schemas.microsoft.com/office/drawing/2014/main" id="{0BDD96D2-5352-4301-B5E9-C18EE993A49B}"/>
              </a:ext>
            </a:extLst>
          </p:cNvPr>
          <p:cNvSpPr>
            <a:spLocks xmlns:a="http://schemas.openxmlformats.org/drawingml/2006/main" noGrp="1"/>
          </p:cNvSpPr>
          <p:nvPr/>
        </p:nvSpPr>
        <p:spPr>
          <a:xfrm xmlns:a="http://schemas.openxmlformats.org/drawingml/2006/main">
            <a:off x="590550" y="1533525"/>
            <a:ext cx="2733675" cy="1228725"/>
          </a:xfrm>
          <a:prstGeom xmlns:a="http://schemas.openxmlformats.org/drawingml/2006/main" prst="can">
            <a:avLst/>
          </a:prstGeom>
          <a:solidFill xmlns:a="http://schemas.openxmlformats.org/drawingml/2006/main">
            <a:srgbClr val="D5E5A9"/>
          </a:solidFill>
          <a:ln xmlns:a="http://schemas.openxmlformats.org/drawingml/2006/main" w="19050">
            <a:solidFill>
              <a:srgbClr val="37684B"/>
            </a:solidFill>
          </a:ln>
        </p:spPr>
        <p:txBody>
          <a:bodyPr xmlns:a="http://schemas.openxmlformats.org/drawingml/2006/main" lIns="85725" tIns="285750" rIns="85725" bIns="66675" anchor="ctr">
            <a:noAutofit/>
          </a:bodyPr>
          <a:lstStyle xmlns:a="http://schemas.openxmlformats.org/drawingml/2006/main"/>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D5</a:t>
            </a:r>
          </a:p>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Episode support/query</a:t>
            </a:r>
          </a:p>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keys and true labels</a:t>
            </a:r>
          </a:p>
        </p:txBody>
      </p:sp>
      <p:sp>
        <p:nvSpPr>
          <p:cNvPr id="5" name="P5">
            <a:extLst xmlns:a="http://schemas.openxmlformats.org/drawingml/2006/main">
              <a:ext uri="{FF2B5EF4-FFF2-40B4-BE49-F238E27FC236}">
                <a16:creationId xmlns:a16="http://schemas.microsoft.com/office/drawing/2014/main" id="{A0F59CDF-4B03-4F81-8001-953CC5887F01}"/>
              </a:ext>
            </a:extLst>
          </p:cNvPr>
          <p:cNvSpPr>
            <a:spLocks xmlns:a="http://schemas.openxmlformats.org/drawingml/2006/main" noGrp="1"/>
          </p:cNvSpPr>
          <p:nvPr/>
        </p:nvSpPr>
        <p:spPr>
          <a:xfrm xmlns:a="http://schemas.openxmlformats.org/drawingml/2006/main">
            <a:off x="4714875" y="1533525"/>
            <a:ext cx="2743200" cy="1038225"/>
          </a:xfrm>
          <a:prstGeom xmlns:a="http://schemas.openxmlformats.org/drawingml/2006/main" prst="roundRect">
            <a:avLst>
              <a:gd name="adj" fmla="val 7339"/>
            </a:avLst>
          </a:prstGeom>
          <a:solidFill xmlns:a="http://schemas.openxmlformats.org/drawingml/2006/main">
            <a:srgbClr val="E7EDE1"/>
          </a:solidFill>
          <a:ln xmlns:a="http://schemas.openxmlformats.org/drawingml/2006/main" w="19050">
            <a:solidFill>
              <a:srgbClr val="37684B"/>
            </a:solidFill>
          </a:ln>
        </p:spPr>
        <p:txBody>
          <a:bodyPr xmlns:a="http://schemas.openxmlformats.org/drawingml/2006/main" lIns="85725" tIns="85725" rIns="85725" bIns="66675" anchor="ctr">
            <a:noAutofit/>
          </a:bodyPr>
          <a:lstStyle xmlns:a="http://schemas.openxmlformats.org/drawingml/2006/main"/>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P5</a:t>
            </a:r>
          </a:p>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Validate action</a:t>
            </a:r>
          </a:p>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and select support writes</a:t>
            </a:r>
          </a:p>
        </p:txBody>
      </p:sp>
      <p:sp>
        <p:nvSpPr>
          <p:cNvPr id="6" name="D6">
            <a:extLst xmlns:a="http://schemas.openxmlformats.org/drawingml/2006/main">
              <a:ext uri="{FF2B5EF4-FFF2-40B4-BE49-F238E27FC236}">
                <a16:creationId xmlns:a16="http://schemas.microsoft.com/office/drawing/2014/main" id="{87B89261-CCF8-4E0F-AD04-DB70D007AE65}"/>
              </a:ext>
            </a:extLst>
          </p:cNvPr>
          <p:cNvSpPr>
            <a:spLocks xmlns:a="http://schemas.openxmlformats.org/drawingml/2006/main" noGrp="1"/>
          </p:cNvSpPr>
          <p:nvPr/>
        </p:nvSpPr>
        <p:spPr>
          <a:xfrm xmlns:a="http://schemas.openxmlformats.org/drawingml/2006/main">
            <a:off x="8867775" y="1533525"/>
            <a:ext cx="2733675" cy="1228725"/>
          </a:xfrm>
          <a:prstGeom xmlns:a="http://schemas.openxmlformats.org/drawingml/2006/main" prst="can">
            <a:avLst/>
          </a:prstGeom>
          <a:solidFill xmlns:a="http://schemas.openxmlformats.org/drawingml/2006/main">
            <a:srgbClr val="D5E5A9"/>
          </a:solidFill>
          <a:ln xmlns:a="http://schemas.openxmlformats.org/drawingml/2006/main" w="19050">
            <a:solidFill>
              <a:srgbClr val="37684B"/>
            </a:solidFill>
          </a:ln>
        </p:spPr>
        <p:txBody>
          <a:bodyPr xmlns:a="http://schemas.openxmlformats.org/drawingml/2006/main" lIns="85725" tIns="285750" rIns="85725" bIns="66675" anchor="ctr">
            <a:noAutofit/>
          </a:bodyPr>
          <a:lstStyle xmlns:a="http://schemas.openxmlformats.org/drawingml/2006/main"/>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D6</a:t>
            </a:r>
          </a:p>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Session fast memory</a:t>
            </a:r>
          </a:p>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S, c and derived M</a:t>
            </a:r>
          </a:p>
        </p:txBody>
      </p:sp>
      <p:sp>
        <p:nvSpPr>
          <p:cNvPr id="7" name="P7">
            <a:extLst xmlns:a="http://schemas.openxmlformats.org/drawingml/2006/main">
              <a:ext uri="{FF2B5EF4-FFF2-40B4-BE49-F238E27FC236}">
                <a16:creationId xmlns:a16="http://schemas.microsoft.com/office/drawing/2014/main" id="{ABE6F1B1-65B4-45ED-BF6E-B700CF35024E}"/>
              </a:ext>
            </a:extLst>
          </p:cNvPr>
          <p:cNvSpPr>
            <a:spLocks xmlns:a="http://schemas.openxmlformats.org/drawingml/2006/main" noGrp="1"/>
          </p:cNvSpPr>
          <p:nvPr/>
        </p:nvSpPr>
        <p:spPr>
          <a:xfrm xmlns:a="http://schemas.openxmlformats.org/drawingml/2006/main">
            <a:off x="590550" y="4333875"/>
            <a:ext cx="2733675" cy="1104900"/>
          </a:xfrm>
          <a:prstGeom xmlns:a="http://schemas.openxmlformats.org/drawingml/2006/main" prst="roundRect">
            <a:avLst>
              <a:gd name="adj" fmla="val 6897"/>
            </a:avLst>
          </a:prstGeom>
          <a:solidFill xmlns:a="http://schemas.openxmlformats.org/drawingml/2006/main">
            <a:srgbClr val="E7EDE1"/>
          </a:solidFill>
          <a:ln xmlns:a="http://schemas.openxmlformats.org/drawingml/2006/main" w="19050">
            <a:solidFill>
              <a:srgbClr val="37684B"/>
            </a:solidFill>
          </a:ln>
        </p:spPr>
        <p:txBody>
          <a:bodyPr xmlns:a="http://schemas.openxmlformats.org/drawingml/2006/main" lIns="85725" tIns="85725" rIns="85725" bIns="66675" anchor="ctr">
            <a:noAutofit/>
          </a:bodyPr>
          <a:lstStyle xmlns:a="http://schemas.openxmlformats.org/drawingml/2006/main"/>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P7</a:t>
            </a:r>
          </a:p>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Audit exact weights</a:t>
            </a:r>
          </a:p>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and render feedback</a:t>
            </a:r>
          </a:p>
        </p:txBody>
      </p:sp>
      <p:sp>
        <p:nvSpPr>
          <p:cNvPr id="8" name="P6">
            <a:extLst xmlns:a="http://schemas.openxmlformats.org/drawingml/2006/main">
              <a:ext uri="{FF2B5EF4-FFF2-40B4-BE49-F238E27FC236}">
                <a16:creationId xmlns:a16="http://schemas.microsoft.com/office/drawing/2014/main" id="{DAF092A9-8B1F-4757-81BE-22D59CFB08D0}"/>
              </a:ext>
            </a:extLst>
          </p:cNvPr>
          <p:cNvSpPr>
            <a:spLocks xmlns:a="http://schemas.openxmlformats.org/drawingml/2006/main" noGrp="1"/>
          </p:cNvSpPr>
          <p:nvPr/>
        </p:nvSpPr>
        <p:spPr>
          <a:xfrm xmlns:a="http://schemas.openxmlformats.org/drawingml/2006/main">
            <a:off x="4714875" y="4333875"/>
            <a:ext cx="2743200" cy="1104900"/>
          </a:xfrm>
          <a:prstGeom xmlns:a="http://schemas.openxmlformats.org/drawingml/2006/main" prst="roundRect">
            <a:avLst>
              <a:gd name="adj" fmla="val 6897"/>
            </a:avLst>
          </a:prstGeom>
          <a:solidFill xmlns:a="http://schemas.openxmlformats.org/drawingml/2006/main">
            <a:srgbClr val="E7EDE1"/>
          </a:solidFill>
          <a:ln xmlns:a="http://schemas.openxmlformats.org/drawingml/2006/main" w="19050">
            <a:solidFill>
              <a:srgbClr val="37684B"/>
            </a:solidFill>
          </a:ln>
        </p:spPr>
        <p:txBody>
          <a:bodyPr xmlns:a="http://schemas.openxmlformats.org/drawingml/2006/main" lIns="85725" tIns="85725" rIns="85725" bIns="66675" anchor="ctr">
            <a:noAutofit/>
          </a:bodyPr>
          <a:lstStyle xmlns:a="http://schemas.openxmlformats.org/drawingml/2006/main"/>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P6</a:t>
            </a:r>
          </a:p>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Read Mq, choose label</a:t>
            </a:r>
          </a:p>
          <a:p xmlns:a="http://schemas.openxmlformats.org/drawingml/2006/main">
            <a:pPr algn="ctr">
              <a:defRPr sz="1725" b="0">
                <a:solidFill>
                  <a:srgbClr val="153F35"/>
                </a:solidFill>
                <a:latin typeface="Arial"/>
                <a:ea typeface="Arial"/>
                <a:cs typeface="Arial"/>
              </a:defRPr>
            </a:pPr>
            <a:r>
              <a:rPr sz="1725" b="0">
                <a:solidFill>
                  <a:srgbClr val="153F35"/>
                </a:solidFill>
                <a:latin typeface="Arial"/>
                <a:ea typeface="Arial"/>
                <a:cs typeface="Arial"/>
              </a:rPr>
              <a:t>compare with true label</a:t>
            </a:r>
          </a:p>
        </p:txBody>
      </p:sp>
      <p:sp>
        <p:nvSpPr>
          <p:cNvPr id="9" name="D7">
            <a:extLst xmlns:a="http://schemas.openxmlformats.org/drawingml/2006/main">
              <a:ext uri="{FF2B5EF4-FFF2-40B4-BE49-F238E27FC236}">
                <a16:creationId xmlns:a16="http://schemas.microsoft.com/office/drawing/2014/main" id="{342F9200-0604-47CD-83B5-C66939118C30}"/>
              </a:ext>
            </a:extLst>
          </p:cNvPr>
          <p:cNvSpPr>
            <a:spLocks xmlns:a="http://schemas.openxmlformats.org/drawingml/2006/main" noGrp="1"/>
          </p:cNvSpPr>
          <p:nvPr/>
        </p:nvSpPr>
        <p:spPr>
          <a:xfrm xmlns:a="http://schemas.openxmlformats.org/drawingml/2006/main">
            <a:off x="8867775" y="4333875"/>
            <a:ext cx="2733675" cy="1295400"/>
          </a:xfrm>
          <a:prstGeom xmlns:a="http://schemas.openxmlformats.org/drawingml/2006/main" prst="can">
            <a:avLst/>
          </a:prstGeom>
          <a:solidFill xmlns:a="http://schemas.openxmlformats.org/drawingml/2006/main">
            <a:srgbClr val="D5E5A9"/>
          </a:solidFill>
          <a:ln xmlns:a="http://schemas.openxmlformats.org/drawingml/2006/main" w="19050">
            <a:solidFill>
              <a:srgbClr val="37684B"/>
            </a:solidFill>
          </a:ln>
        </p:spPr>
        <p:txBody>
          <a:bodyPr xmlns:a="http://schemas.openxmlformats.org/drawingml/2006/main" lIns="85725" tIns="285750" rIns="85725" bIns="66675" anchor="ctr">
            <a:noAutofit/>
          </a:bodyPr>
          <a:lstStyle xmlns:a="http://schemas.openxmlformats.org/drawingml/2006/main"/>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D7</a:t>
            </a:r>
          </a:p>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Before/after snapshots</a:t>
            </a:r>
          </a:p>
          <a:p xmlns:a="http://schemas.openxmlformats.org/drawingml/2006/main">
            <a:pPr algn="ctr">
              <a:defRPr sz="1650" b="0">
                <a:solidFill>
                  <a:srgbClr val="153F35"/>
                </a:solidFill>
                <a:latin typeface="Arial"/>
                <a:ea typeface="Arial"/>
                <a:cs typeface="Arial"/>
              </a:defRPr>
            </a:pPr>
            <a:r>
              <a:rPr sz="1650" b="0">
                <a:solidFill>
                  <a:srgbClr val="153F35"/>
                </a:solidFill>
                <a:latin typeface="Arial"/>
                <a:ea typeface="Arial"/>
                <a:cs typeface="Arial"/>
              </a:rPr>
              <a:t>and query outcomes</a:t>
            </a:r>
          </a:p>
        </p:txBody>
      </p:sp>
      <p:cxnSp>
        <p:nvCxnSpPr>
          <p:cNvPr id="38" name=""/>
          <p:cNvCxnSpPr>
            <a:stCxn xmlns:a="http://schemas.openxmlformats.org/drawingml/2006/main" id="4" idx="4"/>
            <a:endCxn xmlns:a="http://schemas.openxmlformats.org/drawingml/2006/main" id="5" idx="1"/>
          </p:cNvCxnSpPr>
          <p:nvPr/>
        </p:nvCxnSpPr>
        <p:spPr>
          <a:xfrm xmlns:a="http://schemas.openxmlformats.org/drawingml/2006/main" flipV="1">
            <a:off x="3324225" y="2052638"/>
            <a:ext cx="1390650" cy="95250"/>
          </a:xfrm>
          <a:prstGeom xmlns:a="http://schemas.openxmlformats.org/drawingml/2006/main" prst="straightConnector1">
            <a:avLst/>
          </a:prstGeom>
          <a:ln xmlns:a="http://schemas.openxmlformats.org/drawingml/2006/main" w="19050">
            <a:solidFill>
              <a:srgbClr val="37684B"/>
            </a:solidFill>
            <a:tailEnd type="triangle" w="med" len="med"/>
          </a:ln>
        </p:spPr>
      </p:cxnSp>
      <p:sp>
        <p:nvSpPr>
          <p:cNvPr id="11" name="text-4-10">
            <a:extLst xmlns:a="http://schemas.openxmlformats.org/drawingml/2006/main">
              <a:ext uri="{FF2B5EF4-FFF2-40B4-BE49-F238E27FC236}">
                <a16:creationId xmlns:a16="http://schemas.microsoft.com/office/drawing/2014/main" id="{FB06BE55-1F5E-4358-BEEE-316F7E015FFB}"/>
              </a:ext>
            </a:extLst>
          </p:cNvPr>
          <p:cNvSpPr>
            <a:spLocks xmlns:a="http://schemas.openxmlformats.org/drawingml/2006/main" noGrp="1"/>
          </p:cNvSpPr>
          <p:nvPr/>
        </p:nvSpPr>
        <p:spPr>
          <a:xfrm xmlns:a="http://schemas.openxmlformats.org/drawingml/2006/main">
            <a:off x="3362325" y="1666875"/>
            <a:ext cx="1304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k, one-hot v</a:t>
            </a:r>
          </a:p>
        </p:txBody>
      </p:sp>
      <p:cxnSp>
        <p:nvCxnSpPr>
          <p:cNvPr id="40" name=""/>
          <p:cNvCxnSpPr>
            <a:stCxn xmlns:a="http://schemas.openxmlformats.org/drawingml/2006/main" id="5" idx="3"/>
            <a:endCxn xmlns:a="http://schemas.openxmlformats.org/drawingml/2006/main" id="6" idx="2"/>
          </p:cNvCxnSpPr>
          <p:nvPr/>
        </p:nvCxnSpPr>
        <p:spPr>
          <a:xfrm xmlns:a="http://schemas.openxmlformats.org/drawingml/2006/main">
            <a:off x="7458075" y="2052638"/>
            <a:ext cx="1409700" cy="95250"/>
          </a:xfrm>
          <a:prstGeom xmlns:a="http://schemas.openxmlformats.org/drawingml/2006/main" prst="straightConnector1">
            <a:avLst/>
          </a:prstGeom>
          <a:ln xmlns:a="http://schemas.openxmlformats.org/drawingml/2006/main" w="19050">
            <a:solidFill>
              <a:srgbClr val="37684B"/>
            </a:solidFill>
            <a:tailEnd type="triangle" w="med" len="med"/>
          </a:ln>
        </p:spPr>
      </p:cxnSp>
      <p:sp>
        <p:nvSpPr>
          <p:cNvPr id="13" name="text-4-12">
            <a:extLst xmlns:a="http://schemas.openxmlformats.org/drawingml/2006/main">
              <a:ext uri="{FF2B5EF4-FFF2-40B4-BE49-F238E27FC236}">
                <a16:creationId xmlns:a16="http://schemas.microsoft.com/office/drawing/2014/main" id="{64C02420-98B7-419C-B130-2F30CE2F1850}"/>
              </a:ext>
            </a:extLst>
          </p:cNvPr>
          <p:cNvSpPr>
            <a:spLocks xmlns:a="http://schemas.openxmlformats.org/drawingml/2006/main" noGrp="1"/>
          </p:cNvSpPr>
          <p:nvPr/>
        </p:nvSpPr>
        <p:spPr>
          <a:xfrm xmlns:a="http://schemas.openxmlformats.org/drawingml/2006/main">
            <a:off x="7496175" y="1504950"/>
            <a:ext cx="1323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Teach / conflict</a:t>
            </a:r>
          </a:p>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reset / set shots</a:t>
            </a:r>
          </a:p>
        </p:txBody>
      </p:sp>
      <p:cxnSp>
        <p:nvCxnSpPr>
          <p:cNvPr id="42" name=""/>
          <p:cNvCxnSpPr>
            <a:stCxn xmlns:a="http://schemas.openxmlformats.org/drawingml/2006/main" id="6" idx="3"/>
            <a:endCxn xmlns:a="http://schemas.openxmlformats.org/drawingml/2006/main" id="8" idx="0"/>
          </p:cNvCxnSpPr>
          <p:nvPr/>
        </p:nvCxnSpPr>
        <p:spPr>
          <a:xfrm xmlns:a="http://schemas.openxmlformats.org/drawingml/2006/main" flipH="1">
            <a:off x="6086475" y="2762250"/>
            <a:ext cx="4148138" cy="1571625"/>
          </a:xfrm>
          <a:prstGeom xmlns:a="http://schemas.openxmlformats.org/drawingml/2006/main" prst="straightConnector1">
            <a:avLst/>
          </a:prstGeom>
          <a:ln xmlns:a="http://schemas.openxmlformats.org/drawingml/2006/main" w="19050">
            <a:solidFill>
              <a:srgbClr val="37684B"/>
            </a:solidFill>
            <a:tailEnd type="triangle" w="med" len="med"/>
          </a:ln>
        </p:spPr>
      </p:cxnSp>
      <p:sp>
        <p:nvSpPr>
          <p:cNvPr id="15" name="text-4-14">
            <a:extLst xmlns:a="http://schemas.openxmlformats.org/drawingml/2006/main">
              <a:ext uri="{FF2B5EF4-FFF2-40B4-BE49-F238E27FC236}">
                <a16:creationId xmlns:a16="http://schemas.microsoft.com/office/drawing/2014/main" id="{A041161C-0819-4650-AFAA-064224F1B97C}"/>
              </a:ext>
            </a:extLst>
          </p:cNvPr>
          <p:cNvSpPr>
            <a:spLocks xmlns:a="http://schemas.openxmlformats.org/drawingml/2006/main" noGrp="1"/>
          </p:cNvSpPr>
          <p:nvPr/>
        </p:nvSpPr>
        <p:spPr>
          <a:xfrm xmlns:a="http://schemas.openxmlformats.org/drawingml/2006/main">
            <a:off x="7762875" y="3209925"/>
            <a:ext cx="1333500" cy="419100"/>
          </a:xfrm>
          <a:prstGeom xmlns:a="http://schemas.openxmlformats.org/drawingml/2006/main" prst="rect">
            <a:avLst/>
          </a:prstGeom>
          <a:solidFill xmlns:a="http://schemas.openxmlformats.org/drawingml/2006/main">
            <a:srgbClr val="F5F5EE"/>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Current M</a:t>
            </a:r>
          </a:p>
        </p:txBody>
      </p:sp>
      <p:cxnSp>
        <p:nvCxnSpPr>
          <p:cNvPr id="44" name=""/>
          <p:cNvCxnSpPr>
            <a:stCxn xmlns:a="http://schemas.openxmlformats.org/drawingml/2006/main" id="4" idx="3"/>
            <a:endCxn xmlns:a="http://schemas.openxmlformats.org/drawingml/2006/main" id="8" idx="0"/>
          </p:cNvCxnSpPr>
          <p:nvPr/>
        </p:nvCxnSpPr>
        <p:spPr>
          <a:xfrm xmlns:a="http://schemas.openxmlformats.org/drawingml/2006/main">
            <a:off x="1957388" y="2762250"/>
            <a:ext cx="4129088" cy="1571625"/>
          </a:xfrm>
          <a:prstGeom xmlns:a="http://schemas.openxmlformats.org/drawingml/2006/main" prst="straightConnector1">
            <a:avLst/>
          </a:prstGeom>
          <a:ln xmlns:a="http://schemas.openxmlformats.org/drawingml/2006/main" w="19050">
            <a:solidFill>
              <a:srgbClr val="37684B"/>
            </a:solidFill>
            <a:tailEnd type="triangle" w="med" len="med"/>
          </a:ln>
        </p:spPr>
      </p:cxnSp>
      <p:sp>
        <p:nvSpPr>
          <p:cNvPr id="17" name="text-4-16">
            <a:extLst xmlns:a="http://schemas.openxmlformats.org/drawingml/2006/main">
              <a:ext uri="{FF2B5EF4-FFF2-40B4-BE49-F238E27FC236}">
                <a16:creationId xmlns:a16="http://schemas.microsoft.com/office/drawing/2014/main" id="{9AE00ED8-E585-46BB-9AB1-882208CD2DAE}"/>
              </a:ext>
            </a:extLst>
          </p:cNvPr>
          <p:cNvSpPr>
            <a:spLocks xmlns:a="http://schemas.openxmlformats.org/drawingml/2006/main" noGrp="1"/>
          </p:cNvSpPr>
          <p:nvPr/>
        </p:nvSpPr>
        <p:spPr>
          <a:xfrm xmlns:a="http://schemas.openxmlformats.org/drawingml/2006/main">
            <a:off x="2857500" y="3200400"/>
            <a:ext cx="1524000" cy="419100"/>
          </a:xfrm>
          <a:prstGeom xmlns:a="http://schemas.openxmlformats.org/drawingml/2006/main" prst="rect">
            <a:avLst/>
          </a:prstGeom>
          <a:solidFill xmlns:a="http://schemas.openxmlformats.org/drawingml/2006/main">
            <a:srgbClr val="F5F5EE"/>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Query q and</a:t>
            </a:r>
          </a:p>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ground truth</a:t>
            </a:r>
          </a:p>
        </p:txBody>
      </p:sp>
      <p:cxnSp>
        <p:nvCxnSpPr>
          <p:cNvPr id="46" name=""/>
          <p:cNvCxnSpPr>
            <a:stCxn xmlns:a="http://schemas.openxmlformats.org/drawingml/2006/main" id="8" idx="3"/>
            <a:endCxn xmlns:a="http://schemas.openxmlformats.org/drawingml/2006/main" id="9" idx="2"/>
          </p:cNvCxnSpPr>
          <p:nvPr/>
        </p:nvCxnSpPr>
        <p:spPr>
          <a:xfrm xmlns:a="http://schemas.openxmlformats.org/drawingml/2006/main">
            <a:off x="7458075" y="4886325"/>
            <a:ext cx="1409700" cy="95250"/>
          </a:xfrm>
          <a:prstGeom xmlns:a="http://schemas.openxmlformats.org/drawingml/2006/main" prst="straightConnector1">
            <a:avLst/>
          </a:prstGeom>
          <a:ln xmlns:a="http://schemas.openxmlformats.org/drawingml/2006/main" w="19050">
            <a:solidFill>
              <a:srgbClr val="37684B"/>
            </a:solidFill>
            <a:tailEnd type="triangle" w="med" len="med"/>
          </a:ln>
        </p:spPr>
      </p:cxnSp>
      <p:sp>
        <p:nvSpPr>
          <p:cNvPr id="19" name="text-4-18">
            <a:extLst xmlns:a="http://schemas.openxmlformats.org/drawingml/2006/main">
              <a:ext uri="{FF2B5EF4-FFF2-40B4-BE49-F238E27FC236}">
                <a16:creationId xmlns:a16="http://schemas.microsoft.com/office/drawing/2014/main" id="{7BD41E2F-E6A3-4701-88F8-2B3391503B65}"/>
              </a:ext>
            </a:extLst>
          </p:cNvPr>
          <p:cNvSpPr>
            <a:spLocks xmlns:a="http://schemas.openxmlformats.org/drawingml/2006/main" noGrp="1"/>
          </p:cNvSpPr>
          <p:nvPr/>
        </p:nvSpPr>
        <p:spPr>
          <a:xfrm xmlns:a="http://schemas.openxmlformats.org/drawingml/2006/main">
            <a:off x="7496175" y="4381500"/>
            <a:ext cx="1314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Scores and</a:t>
            </a:r>
          </a:p>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predictions</a:t>
            </a:r>
          </a:p>
        </p:txBody>
      </p:sp>
      <p:sp>
        <p:nvSpPr>
          <p:cNvPr id="20" name="">
            <a:extLst xmlns:a="http://schemas.openxmlformats.org/drawingml/2006/main">
              <a:ext uri="{FF2B5EF4-FFF2-40B4-BE49-F238E27FC236}">
                <a16:creationId xmlns:a16="http://schemas.microsoft.com/office/drawing/2014/main" id="{6EB48AC3-6C09-45A7-84C6-DE637202C161}"/>
              </a:ext>
            </a:extLst>
          </p:cNvPr>
          <p:cNvSpPr>
            <a:spLocks xmlns:a="http://schemas.openxmlformats.org/drawingml/2006/main" noGrp="1"/>
          </p:cNvSpPr>
          <p:nvPr/>
        </p:nvSpPr>
        <p:spPr>
          <a:xfrm xmlns:a="http://schemas.openxmlformats.org/drawingml/2006/main">
            <a:off x="10225088" y="57388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9" name=""/>
          <p:cNvCxnSpPr>
            <a:stCxn xmlns:a="http://schemas.openxmlformats.org/drawingml/2006/main" id="9" idx="3"/>
            <a:endCxn xmlns:a="http://schemas.openxmlformats.org/drawingml/2006/main" id="20" idx="0"/>
          </p:cNvCxnSpPr>
          <p:nvPr/>
        </p:nvCxnSpPr>
        <p:spPr>
          <a:xfrm xmlns:a="http://schemas.openxmlformats.org/drawingml/2006/main" flipH="1">
            <a:off x="10229851" y="5629275"/>
            <a:ext cx="4762" cy="109538"/>
          </a:xfrm>
          <a:prstGeom xmlns:a="http://schemas.openxmlformats.org/drawingml/2006/main" prst="straightConnector1">
            <a:avLst/>
          </a:prstGeom>
          <a:ln xmlns:a="http://schemas.openxmlformats.org/drawingml/2006/main" w="19050">
            <a:solidFill>
              <a:srgbClr val="37684B"/>
            </a:solidFill>
          </a:ln>
        </p:spPr>
      </p:cxnSp>
      <p:sp>
        <p:nvSpPr>
          <p:cNvPr id="22" name="">
            <a:extLst xmlns:a="http://schemas.openxmlformats.org/drawingml/2006/main">
              <a:ext uri="{FF2B5EF4-FFF2-40B4-BE49-F238E27FC236}">
                <a16:creationId xmlns:a16="http://schemas.microsoft.com/office/drawing/2014/main" id="{A6850678-E736-454E-8DFE-3DF651F5D447}"/>
              </a:ext>
            </a:extLst>
          </p:cNvPr>
          <p:cNvSpPr>
            <a:spLocks xmlns:a="http://schemas.openxmlformats.org/drawingml/2006/main" noGrp="1"/>
          </p:cNvSpPr>
          <p:nvPr/>
        </p:nvSpPr>
        <p:spPr>
          <a:xfrm xmlns:a="http://schemas.openxmlformats.org/drawingml/2006/main">
            <a:off x="1947863" y="57388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1" name=""/>
          <p:cNvCxnSpPr>
            <a:stCxn xmlns:a="http://schemas.openxmlformats.org/drawingml/2006/main" id="20" idx="1"/>
            <a:endCxn xmlns:a="http://schemas.openxmlformats.org/drawingml/2006/main" id="22" idx="3"/>
          </p:cNvCxnSpPr>
          <p:nvPr/>
        </p:nvCxnSpPr>
        <p:spPr>
          <a:xfrm xmlns:a="http://schemas.openxmlformats.org/drawingml/2006/main" flipH="1">
            <a:off x="1957388" y="5743576"/>
            <a:ext cx="8267700" cy="0"/>
          </a:xfrm>
          <a:prstGeom xmlns:a="http://schemas.openxmlformats.org/drawingml/2006/main" prst="straightConnector1">
            <a:avLst/>
          </a:prstGeom>
          <a:ln xmlns:a="http://schemas.openxmlformats.org/drawingml/2006/main" w="19050">
            <a:solidFill>
              <a:srgbClr val="37684B"/>
            </a:solidFill>
          </a:ln>
        </p:spPr>
      </p:cxnSp>
      <p:cxnSp>
        <p:nvCxnSpPr>
          <p:cNvPr id="52" name=""/>
          <p:cNvCxnSpPr>
            <a:stCxn xmlns:a="http://schemas.openxmlformats.org/drawingml/2006/main" id="22" idx="0"/>
            <a:endCxn xmlns:a="http://schemas.openxmlformats.org/drawingml/2006/main" id="7" idx="2"/>
          </p:cNvCxnSpPr>
          <p:nvPr/>
        </p:nvCxnSpPr>
        <p:spPr>
          <a:xfrm xmlns:a="http://schemas.openxmlformats.org/drawingml/2006/main" flipV="1">
            <a:off x="1952626" y="5438775"/>
            <a:ext cx="4762" cy="300038"/>
          </a:xfrm>
          <a:prstGeom xmlns:a="http://schemas.openxmlformats.org/drawingml/2006/main" prst="straightConnector1">
            <a:avLst/>
          </a:prstGeom>
          <a:ln xmlns:a="http://schemas.openxmlformats.org/drawingml/2006/main" w="19050">
            <a:solidFill>
              <a:srgbClr val="37684B"/>
            </a:solidFill>
            <a:tailEnd type="triangle" w="med" len="med"/>
          </a:ln>
        </p:spPr>
      </p:cxnSp>
      <p:sp>
        <p:nvSpPr>
          <p:cNvPr id="25" name="text-4-24">
            <a:extLst xmlns:a="http://schemas.openxmlformats.org/drawingml/2006/main">
              <a:ext uri="{FF2B5EF4-FFF2-40B4-BE49-F238E27FC236}">
                <a16:creationId xmlns:a16="http://schemas.microsoft.com/office/drawing/2014/main" id="{6089ACF1-46FA-4715-8168-F1FFD7B25463}"/>
              </a:ext>
            </a:extLst>
          </p:cNvPr>
          <p:cNvSpPr>
            <a:spLocks xmlns:a="http://schemas.openxmlformats.org/drawingml/2006/main" noGrp="1"/>
          </p:cNvSpPr>
          <p:nvPr/>
        </p:nvSpPr>
        <p:spPr>
          <a:xfrm xmlns:a="http://schemas.openxmlformats.org/drawingml/2006/main">
            <a:off x="3781425" y="57816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Snapshots, deltas, predictions, truth</a:t>
            </a:r>
          </a:p>
        </p:txBody>
      </p:sp>
      <p:cxnSp>
        <p:nvCxnSpPr>
          <p:cNvPr id="54" name=""/>
          <p:cNvCxnSpPr>
            <a:stCxn xmlns:a="http://schemas.openxmlformats.org/drawingml/2006/main" id="8" idx="1"/>
            <a:endCxn xmlns:a="http://schemas.openxmlformats.org/drawingml/2006/main" id="7" idx="3"/>
          </p:cNvCxnSpPr>
          <p:nvPr/>
        </p:nvCxnSpPr>
        <p:spPr>
          <a:xfrm xmlns:a="http://schemas.openxmlformats.org/drawingml/2006/main" flipH="1">
            <a:off x="3324225" y="4886325"/>
            <a:ext cx="1390650" cy="0"/>
          </a:xfrm>
          <a:prstGeom xmlns:a="http://schemas.openxmlformats.org/drawingml/2006/main" prst="straightConnector1">
            <a:avLst/>
          </a:prstGeom>
          <a:ln xmlns:a="http://schemas.openxmlformats.org/drawingml/2006/main" w="19050">
            <a:solidFill>
              <a:srgbClr val="37684B"/>
            </a:solidFill>
            <a:tailEnd type="triangle" w="med" len="med"/>
          </a:ln>
        </p:spPr>
      </p:cxnSp>
      <p:sp>
        <p:nvSpPr>
          <p:cNvPr id="27" name="text-4-26">
            <a:extLst xmlns:a="http://schemas.openxmlformats.org/drawingml/2006/main">
              <a:ext uri="{FF2B5EF4-FFF2-40B4-BE49-F238E27FC236}">
                <a16:creationId xmlns:a16="http://schemas.microsoft.com/office/drawing/2014/main" id="{EB39B35C-7FF3-4D4E-B50B-D9F3FBC34CB2}"/>
              </a:ext>
            </a:extLst>
          </p:cNvPr>
          <p:cNvSpPr>
            <a:spLocks xmlns:a="http://schemas.openxmlformats.org/drawingml/2006/main" noGrp="1"/>
          </p:cNvSpPr>
          <p:nvPr/>
        </p:nvSpPr>
        <p:spPr>
          <a:xfrm xmlns:a="http://schemas.openxmlformats.org/drawingml/2006/main">
            <a:off x="3352800" y="457200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56B61"/>
                </a:solidFill>
                <a:latin typeface="Arial"/>
                <a:ea typeface="Arial"/>
                <a:cs typeface="Arial"/>
              </a:defRPr>
            </a:pPr>
            <a:r>
              <a:rPr sz="1425" b="0">
                <a:solidFill>
                  <a:srgbClr val="556B61"/>
                </a:solidFill>
                <a:latin typeface="Arial"/>
                <a:ea typeface="Arial"/>
                <a:cs typeface="Arial"/>
              </a:rPr>
              <a:t>Live result</a:t>
            </a:r>
          </a:p>
        </p:txBody>
      </p:sp>
      <p:sp>
        <p:nvSpPr>
          <p:cNvPr id="28" name="text-4-27">
            <a:extLst xmlns:a="http://schemas.openxmlformats.org/drawingml/2006/main">
              <a:ext uri="{FF2B5EF4-FFF2-40B4-BE49-F238E27FC236}">
                <a16:creationId xmlns:a16="http://schemas.microsoft.com/office/drawing/2014/main" id="{615803C1-C3E8-4316-AC20-0B9B2A291E6B}"/>
              </a:ext>
            </a:extLst>
          </p:cNvPr>
          <p:cNvSpPr>
            <a:spLocks xmlns:a="http://schemas.openxmlformats.org/drawingml/2006/main" noGrp="1"/>
          </p:cNvSpPr>
          <p:nvPr/>
        </p:nvSpPr>
        <p:spPr>
          <a:xfrm xmlns:a="http://schemas.openxmlformats.org/drawingml/2006/main">
            <a:off x="619125" y="1076325"/>
            <a:ext cx="10896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925528"/>
                </a:solidFill>
                <a:latin typeface="Arial"/>
                <a:ea typeface="Arial"/>
                <a:cs typeface="Arial"/>
              </a:defRPr>
            </a:pPr>
            <a:r>
              <a:rPr sz="1650" b="0">
                <a:solidFill>
                  <a:srgbClr val="925528"/>
                </a:solidFill>
                <a:latin typeface="Arial"/>
                <a:ea typeface="Arial"/>
                <a:cs typeface="Arial"/>
              </a:rPr>
              <a:t>Write: S += v kᵀ, c += v. M[i] = S[i]/c[i] if c[i]&gt;0, else 0. Read: scores = Mq.</a:t>
            </a:r>
          </a:p>
        </p:txBody>
      </p:sp>
    </p:spTree>
    <p:extLst>
      <p:ext uri="{BB962C8B-B14F-4D97-AF65-F5344CB8AC3E}">
        <p14:creationId xmlns:p14="http://schemas.microsoft.com/office/powerpoint/2010/main" val="1251131327"/>
      </p:ext>
    </p:extLst>
  </p:cSld>
</p:sld>
</file>

<file path=ppt/slides/slide5.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0" name="text-5-0">
            <a:extLst xmlns:a="http://schemas.openxmlformats.org/drawingml/2006/main">
              <a:ext uri="{FF2B5EF4-FFF2-40B4-BE49-F238E27FC236}">
                <a16:creationId xmlns:a16="http://schemas.microsoft.com/office/drawing/2014/main" id="{5B1D4F34-8426-4809-90EB-2B89566FE564}"/>
              </a:ext>
            </a:extLst>
          </p:cNvPr>
          <p:cNvSpPr>
            <a:spLocks xmlns:a="http://schemas.openxmlformats.org/drawingml/2006/main" noGrp="1"/>
          </p:cNvSpPr>
          <p:nvPr/>
        </p:nvSpPr>
        <p:spPr>
          <a:xfrm xmlns:a="http://schemas.openxmlformats.org/drawingml/2006/main">
            <a:off x="590550" y="4381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3F35"/>
                </a:solidFill>
                <a:latin typeface="Arial"/>
                <a:ea typeface="Arial"/>
                <a:cs typeface="Arial"/>
              </a:defRPr>
            </a:pPr>
            <a:r>
              <a:rPr sz="3225" b="1">
                <a:solidFill>
                  <a:srgbClr val="153F35"/>
                </a:solidFill>
                <a:latin typeface="Arial"/>
                <a:ea typeface="Arial"/>
                <a:cs typeface="Arial"/>
              </a:rPr>
              <a:t>Memory changes, and a wrong label has a cost</a:t>
            </a:r>
          </a:p>
        </p:txBody>
      </p:sp>
      <p:sp>
        <p:nvSpPr>
          <p:cNvPr id="2" name="text-5-1">
            <a:extLst xmlns:a="http://schemas.openxmlformats.org/drawingml/2006/main">
              <a:ext uri="{FF2B5EF4-FFF2-40B4-BE49-F238E27FC236}">
                <a16:creationId xmlns:a16="http://schemas.microsoft.com/office/drawing/2014/main" id="{336D80F7-F817-4362-BF04-F8C689802912}"/>
              </a:ext>
            </a:extLst>
          </p:cNvPr>
          <p:cNvSpPr>
            <a:spLocks xmlns:a="http://schemas.openxmlformats.org/drawingml/2006/main" noGrp="1"/>
          </p:cNvSpPr>
          <p:nvPr/>
        </p:nvSpPr>
        <p:spPr>
          <a:xfrm xmlns:a="http://schemas.openxmlformats.org/drawingml/2006/main">
            <a:off x="590550" y="647700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56B61"/>
                </a:solidFill>
                <a:latin typeface="Arial"/>
                <a:ea typeface="Arial"/>
                <a:cs typeface="Arial"/>
              </a:defRPr>
            </a:pPr>
            <a:r>
              <a:rPr sz="1200" b="0">
                <a:solidFill>
                  <a:srgbClr val="556B61"/>
                </a:solidFill>
                <a:latin typeface="Arial"/>
                <a:ea typeface="Arial"/>
                <a:cs typeface="Arial"/>
              </a:rPr>
              <a:t>DataForge 2026   /   BitWise   /   05</a:t>
            </a:r>
          </a:p>
        </p:txBody>
      </p:sp>
      <p:sp>
        <p:nvSpPr>
          <p:cNvPr id="3" name="text-5-2">
            <a:extLst xmlns:a="http://schemas.openxmlformats.org/drawingml/2006/main">
              <a:ext uri="{FF2B5EF4-FFF2-40B4-BE49-F238E27FC236}">
                <a16:creationId xmlns:a16="http://schemas.microsoft.com/office/drawing/2014/main" id="{19BC7115-9E3F-48B1-AEBD-0E1773A65C2E}"/>
              </a:ext>
            </a:extLst>
          </p:cNvPr>
          <p:cNvSpPr>
            <a:spLocks xmlns:a="http://schemas.openxmlformats.org/drawingml/2006/main" noGrp="1"/>
          </p:cNvSpPr>
          <p:nvPr/>
        </p:nvSpPr>
        <p:spPr>
          <a:xfrm xmlns:a="http://schemas.openxmlformats.org/drawingml/2006/main">
            <a:off x="590550" y="60388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56B61"/>
                </a:solidFill>
                <a:latin typeface="Arial"/>
                <a:ea typeface="Arial"/>
                <a:cs typeface="Arial"/>
              </a:defRPr>
            </a:pPr>
            <a:r>
              <a:rPr sz="1275" b="0">
                <a:solidFill>
                  <a:srgbClr val="556B61"/>
                </a:solidFill>
                <a:latin typeface="Arial"/>
                <a:ea typeface="Arial"/>
                <a:cs typeface="Arial"/>
              </a:rPr>
              <a:t>Actual public app captures, seed 1000. The query set stays fixed. Original screenshots are included in the ZIP.</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2d6de12a01040e3"/>
          <a:stretch xmlns:a="http://schemas.openxmlformats.org/drawingml/2006/main"/>
        </p:blipFill>
        <p:spPr>
          <a:xfrm xmlns:a="http://schemas.openxmlformats.org/drawingml/2006/main">
            <a:off x="590550" y="1515368"/>
            <a:ext cx="5381625" cy="3027164"/>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4631345281c4a53"/>
          <a:stretch xmlns:a="http://schemas.openxmlformats.org/drawingml/2006/main"/>
        </p:blipFill>
        <p:spPr>
          <a:xfrm xmlns:a="http://schemas.openxmlformats.org/drawingml/2006/main">
            <a:off x="6219825" y="1515368"/>
            <a:ext cx="5381625" cy="3027164"/>
          </a:xfrm>
          <a:prstGeom xmlns:a="http://schemas.openxmlformats.org/drawingml/2006/main" prst="rect">
            <a:avLst/>
          </a:prstGeom>
        </p:spPr>
      </p:pic>
      <p:sp>
        <p:nvSpPr>
          <p:cNvPr id="6" name="text-5-3">
            <a:extLst xmlns:a="http://schemas.openxmlformats.org/drawingml/2006/main">
              <a:ext uri="{FF2B5EF4-FFF2-40B4-BE49-F238E27FC236}">
                <a16:creationId xmlns:a16="http://schemas.microsoft.com/office/drawing/2014/main" id="{4CBB3C71-EE22-41FA-8BC5-83A93A9C2D3E}"/>
              </a:ext>
            </a:extLst>
          </p:cNvPr>
          <p:cNvSpPr>
            <a:spLocks xmlns:a="http://schemas.openxmlformats.org/drawingml/2006/main" noGrp="1"/>
          </p:cNvSpPr>
          <p:nvPr/>
        </p:nvSpPr>
        <p:spPr>
          <a:xfrm xmlns:a="http://schemas.openxmlformats.org/drawingml/2006/main">
            <a:off x="647700" y="4848225"/>
            <a:ext cx="5314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53F35"/>
                </a:solidFill>
                <a:latin typeface="Arial"/>
                <a:ea typeface="Arial"/>
                <a:cs typeface="Arial"/>
              </a:defRPr>
            </a:pPr>
            <a:r>
              <a:rPr sz="2250" b="1">
                <a:solidFill>
                  <a:srgbClr val="153F35"/>
                </a:solidFill>
                <a:latin typeface="Arial"/>
                <a:ea typeface="Arial"/>
                <a:cs typeface="Arial"/>
              </a:rPr>
              <a:t>6 writes / 27 of 30 correct</a:t>
            </a:r>
          </a:p>
        </p:txBody>
      </p:sp>
      <p:sp>
        <p:nvSpPr>
          <p:cNvPr id="7" name="text-5-4">
            <a:extLst xmlns:a="http://schemas.openxmlformats.org/drawingml/2006/main">
              <a:ext uri="{FF2B5EF4-FFF2-40B4-BE49-F238E27FC236}">
                <a16:creationId xmlns:a16="http://schemas.microsoft.com/office/drawing/2014/main" id="{D941B900-8087-4AF8-A1FD-D8D58F8B4CA8}"/>
              </a:ext>
            </a:extLst>
          </p:cNvPr>
          <p:cNvSpPr>
            <a:spLocks xmlns:a="http://schemas.openxmlformats.org/drawingml/2006/main" noGrp="1"/>
          </p:cNvSpPr>
          <p:nvPr/>
        </p:nvSpPr>
        <p:spPr>
          <a:xfrm xmlns:a="http://schemas.openxmlformats.org/drawingml/2006/main">
            <a:off x="6257925" y="4848225"/>
            <a:ext cx="5314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925528"/>
                </a:solidFill>
                <a:latin typeface="Arial"/>
                <a:ea typeface="Arial"/>
                <a:cs typeface="Arial"/>
              </a:defRPr>
            </a:pPr>
            <a:r>
              <a:rPr sz="2250" b="1">
                <a:solidFill>
                  <a:srgbClr val="925528"/>
                </a:solidFill>
                <a:latin typeface="Arial"/>
                <a:ea typeface="Arial"/>
                <a:cs typeface="Arial"/>
              </a:rPr>
              <a:t>7 writes / 26 of 30 correct</a:t>
            </a:r>
          </a:p>
        </p:txBody>
      </p:sp>
      <p:sp>
        <p:nvSpPr>
          <p:cNvPr id="8" name="text-5-5">
            <a:extLst xmlns:a="http://schemas.openxmlformats.org/drawingml/2006/main">
              <a:ext uri="{FF2B5EF4-FFF2-40B4-BE49-F238E27FC236}">
                <a16:creationId xmlns:a16="http://schemas.microsoft.com/office/drawing/2014/main" id="{4E714EA1-248F-43E0-8E0C-7FA959913F77}"/>
              </a:ext>
            </a:extLst>
          </p:cNvPr>
          <p:cNvSpPr>
            <a:spLocks xmlns:a="http://schemas.openxmlformats.org/drawingml/2006/main" noGrp="1"/>
          </p:cNvSpPr>
          <p:nvPr/>
        </p:nvSpPr>
        <p:spPr>
          <a:xfrm xmlns:a="http://schemas.openxmlformats.org/drawingml/2006/main">
            <a:off x="647700" y="5391150"/>
            <a:ext cx="5276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63C35"/>
                </a:solidFill>
                <a:latin typeface="Arial"/>
                <a:ea typeface="Arial"/>
                <a:cs typeface="Arial"/>
              </a:defRPr>
            </a:pPr>
            <a:r>
              <a:rPr sz="1725" b="0">
                <a:solidFill>
                  <a:srgbClr val="263C35"/>
                </a:solidFill>
                <a:latin typeface="Arial"/>
                <a:ea typeface="Arial"/>
                <a:cs typeface="Arial"/>
              </a:rPr>
              <a:t>The heatmap contains the actual matrix.</a:t>
            </a:r>
          </a:p>
          <a:p xmlns:a="http://schemas.openxmlformats.org/drawingml/2006/main">
            <a:pPr algn="l">
              <a:defRPr sz="1725" b="0">
                <a:solidFill>
                  <a:srgbClr val="263C35"/>
                </a:solidFill>
                <a:latin typeface="Arial"/>
                <a:ea typeface="Arial"/>
                <a:cs typeface="Arial"/>
              </a:defRPr>
            </a:pPr>
            <a:r>
              <a:rPr sz="1725" b="0">
                <a:solidFill>
                  <a:srgbClr val="263C35"/>
                </a:solidFill>
                <a:latin typeface="Arial"/>
                <a:ea typeface="Arial"/>
                <a:cs typeface="Arial"/>
              </a:rPr>
              <a:t>Retrieval scores equal memory-row dot products.</a:t>
            </a:r>
          </a:p>
        </p:txBody>
      </p:sp>
      <p:sp>
        <p:nvSpPr>
          <p:cNvPr id="9" name="text-5-6">
            <a:extLst xmlns:a="http://schemas.openxmlformats.org/drawingml/2006/main">
              <a:ext uri="{FF2B5EF4-FFF2-40B4-BE49-F238E27FC236}">
                <a16:creationId xmlns:a16="http://schemas.microsoft.com/office/drawing/2014/main" id="{86AAC627-CDFA-4C3C-B734-57021C925707}"/>
              </a:ext>
            </a:extLst>
          </p:cNvPr>
          <p:cNvSpPr>
            <a:spLocks xmlns:a="http://schemas.openxmlformats.org/drawingml/2006/main" noGrp="1"/>
          </p:cNvSpPr>
          <p:nvPr/>
        </p:nvSpPr>
        <p:spPr>
          <a:xfrm xmlns:a="http://schemas.openxmlformats.org/drawingml/2006/main">
            <a:off x="6257925" y="5391150"/>
            <a:ext cx="5276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63C35"/>
                </a:solidFill>
                <a:latin typeface="Arial"/>
                <a:ea typeface="Arial"/>
                <a:cs typeface="Arial"/>
              </a:defRPr>
            </a:pPr>
            <a:r>
              <a:rPr sz="1725" b="0">
                <a:solidFill>
                  <a:srgbClr val="263C35"/>
                </a:solidFill>
                <a:latin typeface="Arial"/>
                <a:ea typeface="Arial"/>
                <a:cs typeface="Arial"/>
              </a:rPr>
              <a:t>Five predictions change after one wrong label.</a:t>
            </a:r>
          </a:p>
          <a:p xmlns:a="http://schemas.openxmlformats.org/drawingml/2006/main">
            <a:pPr algn="l">
              <a:defRPr sz="1725" b="0">
                <a:solidFill>
                  <a:srgbClr val="263C35"/>
                </a:solidFill>
                <a:latin typeface="Arial"/>
                <a:ea typeface="Arial"/>
                <a:cs typeface="Arial"/>
              </a:defRPr>
            </a:pPr>
            <a:r>
              <a:rPr sz="1725" b="0">
                <a:solidFill>
                  <a:srgbClr val="263C35"/>
                </a:solidFill>
                <a:latin typeface="Arial"/>
                <a:ea typeface="Arial"/>
                <a:cs typeface="Arial"/>
              </a:rPr>
              <a:t>Reset clears memory and restores abstention.</a:t>
            </a:r>
          </a:p>
        </p:txBody>
      </p:sp>
    </p:spTree>
    <p:extLst>
      <p:ext uri="{BB962C8B-B14F-4D97-AF65-F5344CB8AC3E}">
        <p14:creationId xmlns:p14="http://schemas.microsoft.com/office/powerpoint/2010/main" val="1248032769"/>
      </p:ext>
    </p:extLst>
  </p:cSld>
</p:sld>
</file>

<file path=ppt/slides/slide6.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4" name="text-6-0">
            <a:extLst xmlns:a="http://schemas.openxmlformats.org/drawingml/2006/main">
              <a:ext uri="{FF2B5EF4-FFF2-40B4-BE49-F238E27FC236}">
                <a16:creationId xmlns:a16="http://schemas.microsoft.com/office/drawing/2014/main" id="{1792974A-5972-42A3-ADB3-EC39C268F584}"/>
              </a:ext>
            </a:extLst>
          </p:cNvPr>
          <p:cNvSpPr>
            <a:spLocks xmlns:a="http://schemas.openxmlformats.org/drawingml/2006/main" noGrp="1"/>
          </p:cNvSpPr>
          <p:nvPr/>
        </p:nvSpPr>
        <p:spPr>
          <a:xfrm xmlns:a="http://schemas.openxmlformats.org/drawingml/2006/main">
            <a:off x="590550" y="4381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3F35"/>
                </a:solidFill>
                <a:latin typeface="Arial"/>
                <a:ea typeface="Arial"/>
                <a:cs typeface="Arial"/>
              </a:defRPr>
            </a:pPr>
            <a:r>
              <a:rPr sz="3225" b="1">
                <a:solidFill>
                  <a:srgbClr val="153F35"/>
                </a:solidFill>
                <a:latin typeface="Arial"/>
                <a:ea typeface="Arial"/>
                <a:cs typeface="Arial"/>
              </a:rPr>
              <a:t>Measured evidence and the research connection</a:t>
            </a:r>
          </a:p>
        </p:txBody>
      </p:sp>
      <p:sp>
        <p:nvSpPr>
          <p:cNvPr id="2" name="text-6-1">
            <a:extLst xmlns:a="http://schemas.openxmlformats.org/drawingml/2006/main">
              <a:ext uri="{FF2B5EF4-FFF2-40B4-BE49-F238E27FC236}">
                <a16:creationId xmlns:a16="http://schemas.microsoft.com/office/drawing/2014/main" id="{D06F733F-9870-4FB8-9E48-BDB8BF6C21D8}"/>
              </a:ext>
            </a:extLst>
          </p:cNvPr>
          <p:cNvSpPr>
            <a:spLocks xmlns:a="http://schemas.openxmlformats.org/drawingml/2006/main" noGrp="1"/>
          </p:cNvSpPr>
          <p:nvPr/>
        </p:nvSpPr>
        <p:spPr>
          <a:xfrm xmlns:a="http://schemas.openxmlformats.org/drawingml/2006/main">
            <a:off x="590550" y="647700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56B61"/>
                </a:solidFill>
                <a:latin typeface="Arial"/>
                <a:ea typeface="Arial"/>
                <a:cs typeface="Arial"/>
              </a:defRPr>
            </a:pPr>
            <a:r>
              <a:rPr sz="1200" b="0">
                <a:solidFill>
                  <a:srgbClr val="556B61"/>
                </a:solidFill>
                <a:latin typeface="Arial"/>
                <a:ea typeface="Arial"/>
                <a:cs typeface="Arial"/>
              </a:rPr>
              <a:t>DataForge 2026   /   BitWise   /   06</a:t>
            </a:r>
          </a:p>
        </p:txBody>
      </p:sp>
      <p:sp>
        <p:nvSpPr>
          <p:cNvPr id="3" name="text-6-2">
            <a:extLst xmlns:a="http://schemas.openxmlformats.org/drawingml/2006/main">
              <a:ext uri="{FF2B5EF4-FFF2-40B4-BE49-F238E27FC236}">
                <a16:creationId xmlns:a16="http://schemas.microsoft.com/office/drawing/2014/main" id="{42B211D4-C8EE-4B5A-995D-359C8343D889}"/>
              </a:ext>
            </a:extLst>
          </p:cNvPr>
          <p:cNvSpPr>
            <a:spLocks xmlns:a="http://schemas.openxmlformats.org/drawingml/2006/main" noGrp="1"/>
          </p:cNvSpPr>
          <p:nvPr/>
        </p:nvSpPr>
        <p:spPr>
          <a:xfrm xmlns:a="http://schemas.openxmlformats.org/drawingml/2006/main">
            <a:off x="590550" y="60388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56B61"/>
                </a:solidFill>
                <a:latin typeface="Arial"/>
                <a:ea typeface="Arial"/>
                <a:cs typeface="Arial"/>
              </a:defRPr>
            </a:pPr>
            <a:r>
              <a:rPr sz="1275" b="0">
                <a:solidFill>
                  <a:srgbClr val="556B61"/>
                </a:solidFill>
                <a:latin typeface="Arial"/>
                <a:ea typeface="Arial"/>
                <a:cs typeface="Arial"/>
              </a:rPr>
              <a:t>Local developer evaluation, 50 fixed seeds. Papers: BDH 2509.26507v1; CQ 2608.09888v1; DeltaNet 2406.06484v3; Titans 2501.00663v1.</a:t>
            </a:r>
          </a:p>
        </p:txBody>
      </p:sp>
      <p:sp>
        <p:nvSpPr>
          <p:cNvPr id="4" name="text-6-3">
            <a:extLst xmlns:a="http://schemas.openxmlformats.org/drawingml/2006/main">
              <a:ext uri="{FF2B5EF4-FFF2-40B4-BE49-F238E27FC236}">
                <a16:creationId xmlns:a16="http://schemas.microsoft.com/office/drawing/2014/main" id="{D9BF5898-9310-459B-BC9E-DC9AE23E452B}"/>
              </a:ext>
            </a:extLst>
          </p:cNvPr>
          <p:cNvSpPr>
            <a:spLocks xmlns:a="http://schemas.openxmlformats.org/drawingml/2006/main" noGrp="1"/>
          </p:cNvSpPr>
          <p:nvPr/>
        </p:nvSpPr>
        <p:spPr>
          <a:xfrm xmlns:a="http://schemas.openxmlformats.org/drawingml/2006/main">
            <a:off x="619125" y="1323975"/>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53F35"/>
                </a:solidFill>
                <a:latin typeface="Arial"/>
                <a:ea typeface="Arial"/>
                <a:cs typeface="Arial"/>
              </a:defRPr>
            </a:pPr>
            <a:r>
              <a:rPr sz="1950" b="1">
                <a:solidFill>
                  <a:srgbClr val="153F35"/>
                </a:solidFill>
                <a:latin typeface="Arial"/>
                <a:ea typeface="Arial"/>
                <a:cs typeface="Arial"/>
              </a:rPr>
              <a:t>Mean query accuracy (%)</a:t>
            </a:r>
          </a:p>
        </p:txBody>
      </p:sp>
      <p:graphicFrame>
        <p:nvGraphicFramePr>
          <p:cNvPr id="18" name="Chart"/>
          <p:cNvGraphicFramePr/>
          <p:nvPr/>
        </p:nvGraphicFramePr>
        <p:xfrm>
          <a:off xmlns:a="http://schemas.openxmlformats.org/drawingml/2006/main" x="571500" y="1838325"/>
          <a:ext xmlns:a="http://schemas.openxmlformats.org/drawingml/2006/main" cx="5953125" cy="3257550"/>
        </p:xfrm>
        <a:graphic xmlns:a="http://schemas.openxmlformats.org/drawingml/2006/main">
          <a:graphicData uri="http://schemas.openxmlformats.org/drawingml/2006/chart">
            <c:chart xmlns:r="http://schemas.openxmlformats.org/officeDocument/2006/relationships" xmlns:c="http://schemas.openxmlformats.org/drawingml/2006/chart" r:id="R3cbae5f0a3bb47ee"/>
          </a:graphicData>
        </a:graphic>
      </p:graphicFrame>
      <p:sp>
        <p:nvSpPr>
          <p:cNvPr id="6" name="text-6-4">
            <a:extLst xmlns:a="http://schemas.openxmlformats.org/drawingml/2006/main">
              <a:ext uri="{FF2B5EF4-FFF2-40B4-BE49-F238E27FC236}">
                <a16:creationId xmlns:a16="http://schemas.microsoft.com/office/drawing/2014/main" id="{95D8B9C5-149B-4148-9515-ADF0FD2A60B2}"/>
              </a:ext>
            </a:extLst>
          </p:cNvPr>
          <p:cNvSpPr>
            <a:spLocks xmlns:a="http://schemas.openxmlformats.org/drawingml/2006/main" noGrp="1"/>
          </p:cNvSpPr>
          <p:nvPr/>
        </p:nvSpPr>
        <p:spPr>
          <a:xfrm xmlns:a="http://schemas.openxmlformats.org/drawingml/2006/main">
            <a:off x="666750" y="5200650"/>
            <a:ext cx="58007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63C35"/>
                </a:solidFill>
                <a:latin typeface="Arial"/>
                <a:ea typeface="Arial"/>
                <a:cs typeface="Arial"/>
              </a:defRPr>
            </a:pPr>
            <a:r>
              <a:rPr sz="1800" b="0">
                <a:solidFill>
                  <a:srgbClr val="263C35"/>
                </a:solidFill>
                <a:latin typeface="Arial"/>
                <a:ea typeface="Arial"/>
                <a:cs typeface="Arial"/>
              </a:rPr>
              <a:t>650 conditions / 19,500 query outcomes</a:t>
            </a:r>
          </a:p>
          <a:p xmlns:a="http://schemas.openxmlformats.org/drawingml/2006/main">
            <a:pPr algn="l">
              <a:defRPr sz="1800" b="0">
                <a:solidFill>
                  <a:srgbClr val="263C35"/>
                </a:solidFill>
                <a:latin typeface="Arial"/>
                <a:ea typeface="Arial"/>
                <a:cs typeface="Arial"/>
              </a:defRPr>
            </a:pPr>
            <a:r>
              <a:rPr sz="1800" b="0">
                <a:solidFill>
                  <a:srgbClr val="263C35"/>
                </a:solidFill>
                <a:latin typeface="Arial"/>
                <a:ea typeface="Arial"/>
                <a:cs typeface="Arial"/>
              </a:rPr>
              <a:t>Encoder delta = 0 throughout</a:t>
            </a:r>
          </a:p>
          <a:p xmlns:a="http://schemas.openxmlformats.org/drawingml/2006/main">
            <a:pPr algn="l">
              <a:defRPr sz="1800" b="0">
                <a:solidFill>
                  <a:srgbClr val="263C35"/>
                </a:solidFill>
                <a:latin typeface="Arial"/>
                <a:ea typeface="Arial"/>
                <a:cs typeface="Arial"/>
              </a:defRPr>
            </a:pPr>
            <a:r>
              <a:rPr sz="1800" b="0">
                <a:solidFill>
                  <a:srgbClr val="263C35"/>
                </a:solidFill>
                <a:latin typeface="Arial"/>
                <a:ea typeface="Arial"/>
                <a:cs typeface="Arial"/>
              </a:rPr>
              <a:t>Shared images limit statistical inference.</a:t>
            </a:r>
          </a:p>
        </p:txBody>
      </p:sp>
      <p:sp>
        <p:nvSpPr>
          <p:cNvPr id="7" name="text-6-5">
            <a:extLst xmlns:a="http://schemas.openxmlformats.org/drawingml/2006/main">
              <a:ext uri="{FF2B5EF4-FFF2-40B4-BE49-F238E27FC236}">
                <a16:creationId xmlns:a16="http://schemas.microsoft.com/office/drawing/2014/main" id="{2CDFC968-EAE4-4FD3-A622-F096774666BB}"/>
              </a:ext>
            </a:extLst>
          </p:cNvPr>
          <p:cNvSpPr>
            <a:spLocks xmlns:a="http://schemas.openxmlformats.org/drawingml/2006/main" noGrp="1"/>
          </p:cNvSpPr>
          <p:nvPr/>
        </p:nvSpPr>
        <p:spPr>
          <a:xfrm xmlns:a="http://schemas.openxmlformats.org/drawingml/2006/main">
            <a:off x="6934200" y="1400175"/>
            <a:ext cx="4572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53F35"/>
                </a:solidFill>
                <a:latin typeface="Arial"/>
                <a:ea typeface="Arial"/>
                <a:cs typeface="Arial"/>
              </a:defRPr>
            </a:pPr>
            <a:r>
              <a:rPr sz="1875" b="1">
                <a:solidFill>
                  <a:srgbClr val="153F35"/>
                </a:solidFill>
                <a:latin typeface="Arial"/>
                <a:ea typeface="Arial"/>
                <a:cs typeface="Arial"/>
              </a:rPr>
              <a:t>BDH [2025]</a:t>
            </a:r>
          </a:p>
        </p:txBody>
      </p:sp>
      <p:sp>
        <p:nvSpPr>
          <p:cNvPr id="8" name="text-6-6">
            <a:extLst xmlns:a="http://schemas.openxmlformats.org/drawingml/2006/main">
              <a:ext uri="{FF2B5EF4-FFF2-40B4-BE49-F238E27FC236}">
                <a16:creationId xmlns:a16="http://schemas.microsoft.com/office/drawing/2014/main" id="{F133CC35-C2C9-466C-B035-D0818D99F741}"/>
              </a:ext>
            </a:extLst>
          </p:cNvPr>
          <p:cNvSpPr>
            <a:spLocks xmlns:a="http://schemas.openxmlformats.org/drawingml/2006/main" noGrp="1"/>
          </p:cNvSpPr>
          <p:nvPr/>
        </p:nvSpPr>
        <p:spPr>
          <a:xfrm xmlns:a="http://schemas.openxmlformats.org/drawingml/2006/main">
            <a:off x="6934200" y="174307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63C35"/>
                </a:solidFill>
                <a:latin typeface="Arial"/>
                <a:ea typeface="Arial"/>
                <a:cs typeface="Arial"/>
              </a:defRPr>
            </a:pPr>
            <a:r>
              <a:rPr sz="1725" b="0">
                <a:solidFill>
                  <a:srgbClr val="263C35"/>
                </a:solidFill>
                <a:latin typeface="Arial"/>
                <a:ea typeface="Arial"/>
                <a:cs typeface="Arial"/>
              </a:rPr>
              <a:t>Fixed connections, dynamic Hebbian state.</a:t>
            </a:r>
          </a:p>
          <a:p xmlns:a="http://schemas.openxmlformats.org/drawingml/2006/main">
            <a:pPr algn="l">
              <a:defRPr sz="1725" b="0">
                <a:solidFill>
                  <a:srgbClr val="263C35"/>
                </a:solidFill>
                <a:latin typeface="Arial"/>
                <a:ea typeface="Arial"/>
                <a:cs typeface="Arial"/>
              </a:defRPr>
            </a:pPr>
            <a:r>
              <a:rPr sz="1725" b="0">
                <a:solidFill>
                  <a:srgbClr val="263C35"/>
                </a:solidFill>
                <a:latin typeface="Arial"/>
                <a:ea typeface="Arial"/>
                <a:cs typeface="Arial"/>
              </a:rPr>
              <a:t>The lab isolates that state distinction.</a:t>
            </a:r>
          </a:p>
        </p:txBody>
      </p:sp>
      <p:sp>
        <p:nvSpPr>
          <p:cNvPr id="9" name="text-6-7">
            <a:extLst xmlns:a="http://schemas.openxmlformats.org/drawingml/2006/main">
              <a:ext uri="{FF2B5EF4-FFF2-40B4-BE49-F238E27FC236}">
                <a16:creationId xmlns:a16="http://schemas.microsoft.com/office/drawing/2014/main" id="{CD8E179B-7F91-44F1-9F4A-D54909A20B8F}"/>
              </a:ext>
            </a:extLst>
          </p:cNvPr>
          <p:cNvSpPr>
            <a:spLocks xmlns:a="http://schemas.openxmlformats.org/drawingml/2006/main" noGrp="1"/>
          </p:cNvSpPr>
          <p:nvPr/>
        </p:nvSpPr>
        <p:spPr>
          <a:xfrm xmlns:a="http://schemas.openxmlformats.org/drawingml/2006/main">
            <a:off x="6934200" y="2562225"/>
            <a:ext cx="4572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53F35"/>
                </a:solidFill>
                <a:latin typeface="Arial"/>
                <a:ea typeface="Arial"/>
                <a:cs typeface="Arial"/>
              </a:defRPr>
            </a:pPr>
            <a:r>
              <a:rPr sz="1875" b="1">
                <a:solidFill>
                  <a:srgbClr val="153F35"/>
                </a:solidFill>
                <a:latin typeface="Arial"/>
                <a:ea typeface="Arial"/>
                <a:cs typeface="Arial"/>
              </a:rPr>
              <a:t>BDH-CQ [2026]</a:t>
            </a:r>
          </a:p>
        </p:txBody>
      </p:sp>
      <p:sp>
        <p:nvSpPr>
          <p:cNvPr id="10" name="text-6-8">
            <a:extLst xmlns:a="http://schemas.openxmlformats.org/drawingml/2006/main">
              <a:ext uri="{FF2B5EF4-FFF2-40B4-BE49-F238E27FC236}">
                <a16:creationId xmlns:a16="http://schemas.microsoft.com/office/drawing/2014/main" id="{DD5D2B6B-BC6A-4E8D-B229-62FFD7AE1FEB}"/>
              </a:ext>
            </a:extLst>
          </p:cNvPr>
          <p:cNvSpPr>
            <a:spLocks xmlns:a="http://schemas.openxmlformats.org/drawingml/2006/main" noGrp="1"/>
          </p:cNvSpPr>
          <p:nvPr/>
        </p:nvSpPr>
        <p:spPr>
          <a:xfrm xmlns:a="http://schemas.openxmlformats.org/drawingml/2006/main">
            <a:off x="6934200" y="290512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63C35"/>
                </a:solidFill>
                <a:latin typeface="Arial"/>
                <a:ea typeface="Arial"/>
                <a:cs typeface="Arial"/>
              </a:defRPr>
            </a:pPr>
            <a:r>
              <a:rPr sz="1725" b="0">
                <a:solidFill>
                  <a:srgbClr val="263C35"/>
                </a:solidFill>
                <a:latin typeface="Arial"/>
                <a:ea typeface="Arial"/>
                <a:cs typeface="Arial"/>
              </a:rPr>
              <a:t>Context memory plus iterative workspace.</a:t>
            </a:r>
          </a:p>
          <a:p xmlns:a="http://schemas.openxmlformats.org/drawingml/2006/main">
            <a:pPr algn="l">
              <a:defRPr sz="1725" b="0">
                <a:solidFill>
                  <a:srgbClr val="263C35"/>
                </a:solidFill>
                <a:latin typeface="Arial"/>
                <a:ea typeface="Arial"/>
                <a:cs typeface="Arial"/>
              </a:defRPr>
            </a:pPr>
            <a:r>
              <a:rPr sz="1725" b="0">
                <a:solidFill>
                  <a:srgbClr val="263C35"/>
                </a:solidFill>
                <a:latin typeface="Arial"/>
                <a:ea typeface="Arial"/>
                <a:cs typeface="Arial"/>
              </a:rPr>
              <a:t>Workspace details remain proprietary.</a:t>
            </a:r>
          </a:p>
        </p:txBody>
      </p:sp>
      <p:sp>
        <p:nvSpPr>
          <p:cNvPr id="11" name="text-6-9">
            <a:extLst xmlns:a="http://schemas.openxmlformats.org/drawingml/2006/main">
              <a:ext uri="{FF2B5EF4-FFF2-40B4-BE49-F238E27FC236}">
                <a16:creationId xmlns:a16="http://schemas.microsoft.com/office/drawing/2014/main" id="{37A708EA-9E2A-43B8-B327-3E1B751887C9}"/>
              </a:ext>
            </a:extLst>
          </p:cNvPr>
          <p:cNvSpPr>
            <a:spLocks xmlns:a="http://schemas.openxmlformats.org/drawingml/2006/main" noGrp="1"/>
          </p:cNvSpPr>
          <p:nvPr/>
        </p:nvSpPr>
        <p:spPr>
          <a:xfrm xmlns:a="http://schemas.openxmlformats.org/drawingml/2006/main">
            <a:off x="6934200" y="37147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3F35"/>
                </a:solidFill>
                <a:latin typeface="Arial"/>
                <a:ea typeface="Arial"/>
                <a:cs typeface="Arial"/>
              </a:defRPr>
            </a:pPr>
            <a:r>
              <a:rPr sz="1800" b="1">
                <a:solidFill>
                  <a:srgbClr val="153F35"/>
                </a:solidFill>
                <a:latin typeface="Arial"/>
                <a:ea typeface="Arial"/>
                <a:cs typeface="Arial"/>
              </a:rPr>
              <a:t>DeltaNet [2024] / Titans [2024–25]</a:t>
            </a:r>
          </a:p>
        </p:txBody>
      </p:sp>
      <p:sp>
        <p:nvSpPr>
          <p:cNvPr id="12" name="text-6-10">
            <a:extLst xmlns:a="http://schemas.openxmlformats.org/drawingml/2006/main">
              <a:ext uri="{FF2B5EF4-FFF2-40B4-BE49-F238E27FC236}">
                <a16:creationId xmlns:a16="http://schemas.microsoft.com/office/drawing/2014/main" id="{A3F6A642-1EB9-4C04-BE96-8FE2490CAF47}"/>
              </a:ext>
            </a:extLst>
          </p:cNvPr>
          <p:cNvSpPr>
            <a:spLocks xmlns:a="http://schemas.openxmlformats.org/drawingml/2006/main" noGrp="1"/>
          </p:cNvSpPr>
          <p:nvPr/>
        </p:nvSpPr>
        <p:spPr>
          <a:xfrm xmlns:a="http://schemas.openxmlformats.org/drawingml/2006/main">
            <a:off x="6934200" y="4105275"/>
            <a:ext cx="4572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63C35"/>
                </a:solidFill>
                <a:latin typeface="Arial"/>
                <a:ea typeface="Arial"/>
                <a:cs typeface="Arial"/>
              </a:defRPr>
            </a:pPr>
            <a:r>
              <a:rPr sz="1725" b="0">
                <a:solidFill>
                  <a:srgbClr val="263C35"/>
                </a:solidFill>
                <a:latin typeface="Arial"/>
                <a:ea typeface="Arial"/>
                <a:cs typeface="Arial"/>
              </a:rPr>
              <a:t>DeltaNet uses retrieval-and-correction.</a:t>
            </a:r>
          </a:p>
          <a:p xmlns:a="http://schemas.openxmlformats.org/drawingml/2006/main">
            <a:pPr algn="l">
              <a:defRPr sz="1725" b="0">
                <a:solidFill>
                  <a:srgbClr val="263C35"/>
                </a:solidFill>
                <a:latin typeface="Arial"/>
                <a:ea typeface="Arial"/>
                <a:cs typeface="Arial"/>
              </a:defRPr>
            </a:pPr>
            <a:r>
              <a:rPr sz="1725" b="0">
                <a:solidFill>
                  <a:srgbClr val="263C35"/>
                </a:solidFill>
                <a:latin typeface="Arial"/>
                <a:ea typeface="Arial"/>
                <a:cs typeface="Arial"/>
              </a:rPr>
              <a:t>Titans optimizes neural memory at test time.</a:t>
            </a:r>
          </a:p>
        </p:txBody>
      </p:sp>
      <p:sp>
        <p:nvSpPr>
          <p:cNvPr id="13" name="text-6-11">
            <a:extLst xmlns:a="http://schemas.openxmlformats.org/drawingml/2006/main">
              <a:ext uri="{FF2B5EF4-FFF2-40B4-BE49-F238E27FC236}">
                <a16:creationId xmlns:a16="http://schemas.microsoft.com/office/drawing/2014/main" id="{7C8CA466-A8FB-4A83-BACA-239CCD645211}"/>
              </a:ext>
            </a:extLst>
          </p:cNvPr>
          <p:cNvSpPr>
            <a:spLocks xmlns:a="http://schemas.openxmlformats.org/drawingml/2006/main" noGrp="1"/>
          </p:cNvSpPr>
          <p:nvPr/>
        </p:nvSpPr>
        <p:spPr>
          <a:xfrm xmlns:a="http://schemas.openxmlformats.org/drawingml/2006/main">
            <a:off x="6934200" y="5238750"/>
            <a:ext cx="457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925528"/>
                </a:solidFill>
                <a:latin typeface="Arial"/>
                <a:ea typeface="Arial"/>
                <a:cs typeface="Arial"/>
              </a:defRPr>
            </a:pPr>
            <a:r>
              <a:rPr sz="1800" b="0">
                <a:solidFill>
                  <a:srgbClr val="925528"/>
                </a:solidFill>
                <a:latin typeface="Arial"/>
                <a:ea typeface="Arial"/>
                <a:cs typeface="Arial"/>
              </a:rPr>
              <a:t>MemoryForge uses supervised class means.</a:t>
            </a:r>
          </a:p>
          <a:p xmlns:a="http://schemas.openxmlformats.org/drawingml/2006/main">
            <a:pPr algn="l">
              <a:defRPr sz="1800" b="0">
                <a:solidFill>
                  <a:srgbClr val="925528"/>
                </a:solidFill>
                <a:latin typeface="Arial"/>
                <a:ea typeface="Arial"/>
                <a:cs typeface="Arial"/>
              </a:defRPr>
            </a:pPr>
            <a:r>
              <a:rPr sz="1800" b="0">
                <a:solidFill>
                  <a:srgbClr val="925528"/>
                </a:solidFill>
                <a:latin typeface="Arial"/>
                <a:ea typeface="Arial"/>
                <a:cs typeface="Arial"/>
              </a:rPr>
              <a:t>It implements neither BDH nor CQ reasoning.</a:t>
            </a:r>
          </a:p>
        </p:txBody>
      </p:sp>
    </p:spTree>
    <p:extLst>
      <p:ext uri="{BB962C8B-B14F-4D97-AF65-F5344CB8AC3E}">
        <p14:creationId xmlns:p14="http://schemas.microsoft.com/office/powerpoint/2010/main" val="244737308"/>
      </p:ext>
    </p:extLst>
  </p:cSld>
</p:sld>
</file>

<file path=ppt/slides/slide7.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2" name="text-7-0">
            <a:extLst xmlns:a="http://schemas.openxmlformats.org/drawingml/2006/main">
              <a:ext uri="{FF2B5EF4-FFF2-40B4-BE49-F238E27FC236}">
                <a16:creationId xmlns:a16="http://schemas.microsoft.com/office/drawing/2014/main" id="{406F8B7E-636B-442E-A16E-A03B4F415B2C}"/>
              </a:ext>
            </a:extLst>
          </p:cNvPr>
          <p:cNvSpPr>
            <a:spLocks xmlns:a="http://schemas.openxmlformats.org/drawingml/2006/main" noGrp="1"/>
          </p:cNvSpPr>
          <p:nvPr/>
        </p:nvSpPr>
        <p:spPr>
          <a:xfrm xmlns:a="http://schemas.openxmlformats.org/drawingml/2006/main">
            <a:off x="590550" y="4381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3F35"/>
                </a:solidFill>
                <a:latin typeface="Arial"/>
                <a:ea typeface="Arial"/>
                <a:cs typeface="Arial"/>
              </a:defRPr>
            </a:pPr>
            <a:r>
              <a:rPr sz="3225" b="1">
                <a:solidFill>
                  <a:srgbClr val="153F35"/>
                </a:solidFill>
                <a:latin typeface="Arial"/>
                <a:ea typeface="Arial"/>
                <a:cs typeface="Arial"/>
              </a:rPr>
              <a:t>Deployment, reproducibility and limits</a:t>
            </a:r>
          </a:p>
        </p:txBody>
      </p:sp>
      <p:sp>
        <p:nvSpPr>
          <p:cNvPr id="2" name="text-7-1">
            <a:extLst xmlns:a="http://schemas.openxmlformats.org/drawingml/2006/main">
              <a:ext uri="{FF2B5EF4-FFF2-40B4-BE49-F238E27FC236}">
                <a16:creationId xmlns:a16="http://schemas.microsoft.com/office/drawing/2014/main" id="{9F4EFB76-24A9-48D9-A55A-7756B8154990}"/>
              </a:ext>
            </a:extLst>
          </p:cNvPr>
          <p:cNvSpPr>
            <a:spLocks xmlns:a="http://schemas.openxmlformats.org/drawingml/2006/main" noGrp="1"/>
          </p:cNvSpPr>
          <p:nvPr/>
        </p:nvSpPr>
        <p:spPr>
          <a:xfrm xmlns:a="http://schemas.openxmlformats.org/drawingml/2006/main">
            <a:off x="590550" y="647700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56B61"/>
                </a:solidFill>
                <a:latin typeface="Arial"/>
                <a:ea typeface="Arial"/>
                <a:cs typeface="Arial"/>
              </a:defRPr>
            </a:pPr>
            <a:r>
              <a:rPr sz="1200" b="0">
                <a:solidFill>
                  <a:srgbClr val="556B61"/>
                </a:solidFill>
                <a:latin typeface="Arial"/>
                <a:ea typeface="Arial"/>
                <a:cs typeface="Arial"/>
              </a:rPr>
              <a:t>DataForge 2026   /   BitWise   /   07</a:t>
            </a:r>
          </a:p>
        </p:txBody>
      </p:sp>
      <p:sp>
        <p:nvSpPr>
          <p:cNvPr id="3" name="text-7-2">
            <a:extLst xmlns:a="http://schemas.openxmlformats.org/drawingml/2006/main">
              <a:ext uri="{FF2B5EF4-FFF2-40B4-BE49-F238E27FC236}">
                <a16:creationId xmlns:a16="http://schemas.microsoft.com/office/drawing/2014/main" id="{681C3786-E001-444D-BAD5-EEAE10FBF917}"/>
              </a:ext>
            </a:extLst>
          </p:cNvPr>
          <p:cNvSpPr>
            <a:spLocks xmlns:a="http://schemas.openxmlformats.org/drawingml/2006/main" noGrp="1"/>
          </p:cNvSpPr>
          <p:nvPr/>
        </p:nvSpPr>
        <p:spPr>
          <a:xfrm xmlns:a="http://schemas.openxmlformats.org/drawingml/2006/main">
            <a:off x="666750" y="13906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53F35"/>
                </a:solidFill>
                <a:latin typeface="Arial"/>
                <a:ea typeface="Arial"/>
                <a:cs typeface="Arial"/>
              </a:defRPr>
            </a:pPr>
            <a:r>
              <a:rPr sz="2175" b="1">
                <a:solidFill>
                  <a:srgbClr val="153F35"/>
                </a:solidFill>
                <a:latin typeface="Arial"/>
                <a:ea typeface="Arial"/>
                <a:cs typeface="Arial"/>
              </a:rPr>
              <a:t>124 tests pass</a:t>
            </a:r>
          </a:p>
        </p:txBody>
      </p:sp>
      <p:sp>
        <p:nvSpPr>
          <p:cNvPr id="4" name="text-7-3">
            <a:extLst xmlns:a="http://schemas.openxmlformats.org/drawingml/2006/main">
              <a:ext uri="{FF2B5EF4-FFF2-40B4-BE49-F238E27FC236}">
                <a16:creationId xmlns:a16="http://schemas.microsoft.com/office/drawing/2014/main" id="{CCE760AC-5850-4144-B51E-4131309F649E}"/>
              </a:ext>
            </a:extLst>
          </p:cNvPr>
          <p:cNvSpPr>
            <a:spLocks xmlns:a="http://schemas.openxmlformats.org/drawingml/2006/main" noGrp="1"/>
          </p:cNvSpPr>
          <p:nvPr/>
        </p:nvSpPr>
        <p:spPr>
          <a:xfrm xmlns:a="http://schemas.openxmlformats.org/drawingml/2006/main">
            <a:off x="666750" y="179070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63C35"/>
                </a:solidFill>
                <a:latin typeface="Arial"/>
                <a:ea typeface="Arial"/>
                <a:cs typeface="Arial"/>
              </a:defRPr>
            </a:pPr>
            <a:r>
              <a:rPr sz="1875" b="0">
                <a:solidFill>
                  <a:srgbClr val="263C35"/>
                </a:solidFill>
                <a:latin typeface="Arial"/>
                <a:ea typeface="Arial"/>
                <a:cs typeface="Arial"/>
              </a:rPr>
              <a:t>Exact checkpoint regeneration and numerical core replay support reproducibility.</a:t>
            </a:r>
          </a:p>
        </p:txBody>
      </p:sp>
      <p:sp>
        <p:nvSpPr>
          <p:cNvPr id="5" name="text-7-4">
            <a:extLst xmlns:a="http://schemas.openxmlformats.org/drawingml/2006/main">
              <a:ext uri="{FF2B5EF4-FFF2-40B4-BE49-F238E27FC236}">
                <a16:creationId xmlns:a16="http://schemas.microsoft.com/office/drawing/2014/main" id="{800B0F76-066F-432C-9DDB-959FE80B72C2}"/>
              </a:ext>
            </a:extLst>
          </p:cNvPr>
          <p:cNvSpPr>
            <a:spLocks xmlns:a="http://schemas.openxmlformats.org/drawingml/2006/main" noGrp="1"/>
          </p:cNvSpPr>
          <p:nvPr/>
        </p:nvSpPr>
        <p:spPr>
          <a:xfrm xmlns:a="http://schemas.openxmlformats.org/drawingml/2006/main">
            <a:off x="666750" y="24288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53F35"/>
                </a:solidFill>
                <a:latin typeface="Arial"/>
                <a:ea typeface="Arial"/>
                <a:cs typeface="Arial"/>
              </a:defRPr>
            </a:pPr>
            <a:r>
              <a:rPr sz="2175" b="1">
                <a:solidFill>
                  <a:srgbClr val="153F35"/>
                </a:solidFill>
                <a:latin typeface="Arial"/>
                <a:ea typeface="Arial"/>
                <a:cs typeface="Arial"/>
              </a:rPr>
              <a:t>Public CPU application</a:t>
            </a:r>
          </a:p>
        </p:txBody>
      </p:sp>
      <p:sp>
        <p:nvSpPr>
          <p:cNvPr id="6" name="text-7-5">
            <a:extLst xmlns:a="http://schemas.openxmlformats.org/drawingml/2006/main">
              <a:ext uri="{FF2B5EF4-FFF2-40B4-BE49-F238E27FC236}">
                <a16:creationId xmlns:a16="http://schemas.microsoft.com/office/drawing/2014/main" id="{E9CF47D3-18E1-4157-A2F6-85C46D89052A}"/>
              </a:ext>
            </a:extLst>
          </p:cNvPr>
          <p:cNvSpPr>
            <a:spLocks xmlns:a="http://schemas.openxmlformats.org/drawingml/2006/main" noGrp="1"/>
          </p:cNvSpPr>
          <p:nvPr/>
        </p:nvSpPr>
        <p:spPr>
          <a:xfrm xmlns:a="http://schemas.openxmlformats.org/drawingml/2006/main">
            <a:off x="666750" y="282892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63C35"/>
                </a:solidFill>
                <a:latin typeface="Arial"/>
                <a:ea typeface="Arial"/>
                <a:cs typeface="Arial"/>
              </a:defRPr>
            </a:pPr>
            <a:r>
              <a:rPr sz="1875" b="0">
                <a:solidFill>
                  <a:srgbClr val="263C35"/>
                </a:solidFill>
                <a:latin typeface="Arial"/>
                <a:ea typeface="Arial"/>
                <a:cs typeface="Arial"/>
              </a:rPr>
              <a:t>Python 3.12.14. Observed actions: 952–1,017 ms. Fresh rebuild: within 130 seconds.</a:t>
            </a:r>
          </a:p>
        </p:txBody>
      </p:sp>
      <p:sp>
        <p:nvSpPr>
          <p:cNvPr id="7" name="text-7-6">
            <a:extLst xmlns:a="http://schemas.openxmlformats.org/drawingml/2006/main">
              <a:ext uri="{FF2B5EF4-FFF2-40B4-BE49-F238E27FC236}">
                <a16:creationId xmlns:a16="http://schemas.microsoft.com/office/drawing/2014/main" id="{61AEFF82-F8D8-4A46-92E1-F2AAFC2C252C}"/>
              </a:ext>
            </a:extLst>
          </p:cNvPr>
          <p:cNvSpPr>
            <a:spLocks xmlns:a="http://schemas.openxmlformats.org/drawingml/2006/main" noGrp="1"/>
          </p:cNvSpPr>
          <p:nvPr/>
        </p:nvSpPr>
        <p:spPr>
          <a:xfrm xmlns:a="http://schemas.openxmlformats.org/drawingml/2006/main">
            <a:off x="666750" y="34671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53F35"/>
                </a:solidFill>
                <a:latin typeface="Arial"/>
                <a:ea typeface="Arial"/>
                <a:cs typeface="Arial"/>
              </a:defRPr>
            </a:pPr>
            <a:r>
              <a:rPr sz="2175" b="1">
                <a:solidFill>
                  <a:srgbClr val="153F35"/>
                </a:solidFill>
                <a:latin typeface="Arial"/>
                <a:ea typeface="Arial"/>
                <a:cs typeface="Arial"/>
              </a:rPr>
              <a:t>The claim stays narrow</a:t>
            </a:r>
          </a:p>
        </p:txBody>
      </p:sp>
      <p:sp>
        <p:nvSpPr>
          <p:cNvPr id="8" name="text-7-7">
            <a:extLst xmlns:a="http://schemas.openxmlformats.org/drawingml/2006/main">
              <a:ext uri="{FF2B5EF4-FFF2-40B4-BE49-F238E27FC236}">
                <a16:creationId xmlns:a16="http://schemas.microsoft.com/office/drawing/2014/main" id="{FBE6A1E8-EEE5-4B7F-B676-0DF38C49C00F}"/>
              </a:ext>
            </a:extLst>
          </p:cNvPr>
          <p:cNvSpPr>
            <a:spLocks xmlns:a="http://schemas.openxmlformats.org/drawingml/2006/main" noGrp="1"/>
          </p:cNvSpPr>
          <p:nvPr/>
        </p:nvSpPr>
        <p:spPr>
          <a:xfrm xmlns:a="http://schemas.openxmlformats.org/drawingml/2006/main">
            <a:off x="666750" y="386715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63C35"/>
                </a:solidFill>
                <a:latin typeface="Arial"/>
                <a:ea typeface="Arial"/>
                <a:cs typeface="Arial"/>
              </a:defRPr>
            </a:pPr>
            <a:r>
              <a:rPr sz="1875" b="0">
                <a:solidFill>
                  <a:srgbClr val="263C35"/>
                </a:solidFill>
                <a:latin typeface="Arial"/>
                <a:ea typeface="Arial"/>
                <a:cs typeface="Arial"/>
              </a:rPr>
              <a:t>Pretrained digit identities, temporary symbols, simple memory and overlapping episodes.</a:t>
            </a:r>
          </a:p>
        </p:txBody>
      </p:sp>
      <p:sp>
        <p:nvSpPr>
          <p:cNvPr id="9" name="text-7-8">
            <a:extLst xmlns:a="http://schemas.openxmlformats.org/drawingml/2006/main">
              <a:ext uri="{FF2B5EF4-FFF2-40B4-BE49-F238E27FC236}">
                <a16:creationId xmlns:a16="http://schemas.microsoft.com/office/drawing/2014/main" id="{87D22D9E-6526-459D-AC10-890504858589}"/>
              </a:ext>
            </a:extLst>
          </p:cNvPr>
          <p:cNvSpPr>
            <a:spLocks xmlns:a="http://schemas.openxmlformats.org/drawingml/2006/main" noGrp="1"/>
          </p:cNvSpPr>
          <p:nvPr/>
        </p:nvSpPr>
        <p:spPr>
          <a:xfrm xmlns:a="http://schemas.openxmlformats.org/drawingml/2006/main">
            <a:off x="666750" y="450532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53F35"/>
                </a:solidFill>
                <a:latin typeface="Arial"/>
                <a:ea typeface="Arial"/>
                <a:cs typeface="Arial"/>
              </a:defRPr>
            </a:pPr>
            <a:r>
              <a:rPr sz="2175" b="1">
                <a:solidFill>
                  <a:srgbClr val="153F35"/>
                </a:solidFill>
                <a:latin typeface="Arial"/>
                <a:ea typeface="Arial"/>
                <a:cs typeface="Arial"/>
              </a:rPr>
              <a:t>Team ownership</a:t>
            </a:r>
          </a:p>
        </p:txBody>
      </p:sp>
      <p:sp>
        <p:nvSpPr>
          <p:cNvPr id="10" name="text-7-9">
            <a:extLst xmlns:a="http://schemas.openxmlformats.org/drawingml/2006/main">
              <a:ext uri="{FF2B5EF4-FFF2-40B4-BE49-F238E27FC236}">
                <a16:creationId xmlns:a16="http://schemas.microsoft.com/office/drawing/2014/main" id="{F93D80EA-CDBD-4638-B7A8-7A45DC4C2EE2}"/>
              </a:ext>
            </a:extLst>
          </p:cNvPr>
          <p:cNvSpPr>
            <a:spLocks xmlns:a="http://schemas.openxmlformats.org/drawingml/2006/main" noGrp="1"/>
          </p:cNvSpPr>
          <p:nvPr/>
        </p:nvSpPr>
        <p:spPr>
          <a:xfrm xmlns:a="http://schemas.openxmlformats.org/drawingml/2006/main">
            <a:off x="666750" y="490537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63C35"/>
                </a:solidFill>
                <a:latin typeface="Arial"/>
                <a:ea typeface="Arial"/>
                <a:cs typeface="Arial"/>
              </a:defRPr>
            </a:pPr>
            <a:r>
              <a:rPr sz="1875" b="0">
                <a:solidFill>
                  <a:srgbClr val="263C35"/>
                </a:solidFill>
                <a:latin typeface="Arial"/>
                <a:ea typeface="Arial"/>
                <a:cs typeface="Arial"/>
              </a:rPr>
              <a:t>Codex assisted code and writing. BitWise must explain and defend the implementation.</a:t>
            </a:r>
          </a:p>
        </p:txBody>
      </p:sp>
      <p:sp>
        <p:nvSpPr>
          <p:cNvPr id="11" name="text-7-10">
            <a:extLst xmlns:a="http://schemas.openxmlformats.org/drawingml/2006/main">
              <a:ext uri="{FF2B5EF4-FFF2-40B4-BE49-F238E27FC236}">
                <a16:creationId xmlns:a16="http://schemas.microsoft.com/office/drawing/2014/main" id="{4A68CB51-88D5-489B-B473-F6BC706AE4CE}"/>
              </a:ext>
            </a:extLst>
          </p:cNvPr>
          <p:cNvSpPr>
            <a:spLocks xmlns:a="http://schemas.openxmlformats.org/drawingml/2006/main" noGrp="1"/>
          </p:cNvSpPr>
          <p:nvPr/>
        </p:nvSpPr>
        <p:spPr>
          <a:xfrm xmlns:a="http://schemas.openxmlformats.org/drawingml/2006/main">
            <a:off x="666750" y="5734050"/>
            <a:ext cx="1081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37684B"/>
                </a:solidFill>
                <a:latin typeface="Arial"/>
                <a:ea typeface="Arial"/>
                <a:cs typeface="Arial"/>
              </a:defRPr>
            </a:pPr>
            <a:r>
              <a:rPr sz="1875" b="1">
                <a:solidFill>
                  <a:srgbClr val="37684B"/>
                </a:solidFill>
                <a:latin typeface="Arial"/>
                <a:ea typeface="Arial"/>
                <a:cs typeface="Arial"/>
              </a:rPr>
              <a:t>Live: memoryforge.streamlit.app     Source: github.com/deeps2710/MemoryForge</a:t>
            </a:r>
          </a:p>
        </p:txBody>
      </p:sp>
    </p:spTree>
    <p:extLst>
      <p:ext uri="{BB962C8B-B14F-4D97-AF65-F5344CB8AC3E}">
        <p14:creationId xmlns:p14="http://schemas.microsoft.com/office/powerpoint/2010/main" val="599061966"/>
      </p:ext>
    </p:extLst>
  </p:cSld>
</p:sld>
</file>

<file path=ppt/slides/slide8.xml><?xml version="1.0" encoding="utf-8"?>
<p:sld xmlns:p="http://schemas.openxmlformats.org/presentationml/2006/main">
  <p:cSld>
    <p:bg>
      <p:bgPr>
        <a:solidFill xmlns:a="http://schemas.openxmlformats.org/drawingml/2006/main">
          <a:srgbClr val="153F35"/>
        </a:solidFill>
      </p:bgPr>
    </p:bg>
    <p:spTree>
      <p:nvGrpSpPr>
        <p:cNvPr id="1" name=""/>
        <p:cNvGrpSpPr/>
        <p:nvPr/>
      </p:nvGrpSpPr>
      <p:grpSpPr>
        <a:xfrm xmlns:a="http://schemas.openxmlformats.org/drawingml/2006/main"/>
      </p:grpSpPr>
      <p:sp>
        <p:nvSpPr>
          <p:cNvPr id="9" name="text-8-0">
            <a:extLst xmlns:a="http://schemas.openxmlformats.org/drawingml/2006/main">
              <a:ext uri="{FF2B5EF4-FFF2-40B4-BE49-F238E27FC236}">
                <a16:creationId xmlns:a16="http://schemas.microsoft.com/office/drawing/2014/main" id="{74F17D94-1E22-4CB8-B393-FB9CFE261A71}"/>
              </a:ext>
            </a:extLst>
          </p:cNvPr>
          <p:cNvSpPr>
            <a:spLocks xmlns:a="http://schemas.openxmlformats.org/drawingml/2006/main" noGrp="1"/>
          </p:cNvSpPr>
          <p:nvPr/>
        </p:nvSpPr>
        <p:spPr>
          <a:xfrm xmlns:a="http://schemas.openxmlformats.org/drawingml/2006/main">
            <a:off x="590550" y="6477000"/>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D5E5A9"/>
                </a:solidFill>
                <a:latin typeface="Arial"/>
                <a:ea typeface="Arial"/>
                <a:cs typeface="Arial"/>
              </a:defRPr>
            </a:pPr>
            <a:r>
              <a:rPr sz="1200" b="0">
                <a:solidFill>
                  <a:srgbClr val="D5E5A9"/>
                </a:solidFill>
                <a:latin typeface="Arial"/>
                <a:ea typeface="Arial"/>
                <a:cs typeface="Arial"/>
              </a:rPr>
              <a:t>DataForge 2026   /   BitWise   /   08</a:t>
            </a:r>
          </a:p>
        </p:txBody>
      </p:sp>
      <p:sp>
        <p:nvSpPr>
          <p:cNvPr id="2" name="text-8-1">
            <a:extLst xmlns:a="http://schemas.openxmlformats.org/drawingml/2006/main">
              <a:ext uri="{FF2B5EF4-FFF2-40B4-BE49-F238E27FC236}">
                <a16:creationId xmlns:a16="http://schemas.microsoft.com/office/drawing/2014/main" id="{855F95FF-6FB3-47E2-BD95-18E854488823}"/>
              </a:ext>
            </a:extLst>
          </p:cNvPr>
          <p:cNvSpPr>
            <a:spLocks xmlns:a="http://schemas.openxmlformats.org/drawingml/2006/main" noGrp="1"/>
          </p:cNvSpPr>
          <p:nvPr/>
        </p:nvSpPr>
        <p:spPr>
          <a:xfrm xmlns:a="http://schemas.openxmlformats.org/drawingml/2006/main">
            <a:off x="619125" y="1323975"/>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300" b="1">
                <a:solidFill>
                  <a:srgbClr val="FFFFFF"/>
                </a:solidFill>
                <a:latin typeface="Arial"/>
                <a:ea typeface="Arial"/>
                <a:cs typeface="Arial"/>
              </a:defRPr>
            </a:pPr>
            <a:r>
              <a:rPr sz="6300" b="1">
                <a:solidFill>
                  <a:srgbClr val="FFFFFF"/>
                </a:solidFill>
                <a:latin typeface="Arial"/>
                <a:ea typeface="Arial"/>
                <a:cs typeface="Arial"/>
              </a:rPr>
              <a:t>THANK YOU</a:t>
            </a:r>
          </a:p>
        </p:txBody>
      </p:sp>
      <p:sp>
        <p:nvSpPr>
          <p:cNvPr id="3" name="text-8-2">
            <a:extLst xmlns:a="http://schemas.openxmlformats.org/drawingml/2006/main">
              <a:ext uri="{FF2B5EF4-FFF2-40B4-BE49-F238E27FC236}">
                <a16:creationId xmlns:a16="http://schemas.microsoft.com/office/drawing/2014/main" id="{36F40E8B-B44F-4732-BC8E-A8BD5D1207D1}"/>
              </a:ext>
            </a:extLst>
          </p:cNvPr>
          <p:cNvSpPr>
            <a:spLocks xmlns:a="http://schemas.openxmlformats.org/drawingml/2006/main" noGrp="1"/>
          </p:cNvSpPr>
          <p:nvPr/>
        </p:nvSpPr>
        <p:spPr>
          <a:xfrm xmlns:a="http://schemas.openxmlformats.org/drawingml/2006/main">
            <a:off x="666750" y="275272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75" b="0">
                <a:solidFill>
                  <a:srgbClr val="D5E5A9"/>
                </a:solidFill>
                <a:latin typeface="Arial"/>
                <a:ea typeface="Arial"/>
                <a:cs typeface="Arial"/>
              </a:defRPr>
            </a:pPr>
            <a:r>
              <a:rPr sz="2775" b="0">
                <a:solidFill>
                  <a:srgbClr val="D5E5A9"/>
                </a:solidFill>
                <a:latin typeface="Arial"/>
                <a:ea typeface="Arial"/>
                <a:cs typeface="Arial"/>
              </a:rPr>
              <a:t>DataForge 2026 / Team BitWise</a:t>
            </a:r>
          </a:p>
        </p:txBody>
      </p:sp>
      <p:sp>
        <p:nvSpPr>
          <p:cNvPr id="4" name="text-8-3">
            <a:extLst xmlns:a="http://schemas.openxmlformats.org/drawingml/2006/main">
              <a:ext uri="{FF2B5EF4-FFF2-40B4-BE49-F238E27FC236}">
                <a16:creationId xmlns:a16="http://schemas.microsoft.com/office/drawing/2014/main" id="{EA87783A-78D8-475E-804E-6962EABCF6A8}"/>
              </a:ext>
            </a:extLst>
          </p:cNvPr>
          <p:cNvSpPr>
            <a:spLocks xmlns:a="http://schemas.openxmlformats.org/drawingml/2006/main" noGrp="1"/>
          </p:cNvSpPr>
          <p:nvPr/>
        </p:nvSpPr>
        <p:spPr>
          <a:xfrm xmlns:a="http://schemas.openxmlformats.org/drawingml/2006/main">
            <a:off x="666750" y="38957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Deepshikha Rani</a:t>
            </a:r>
          </a:p>
        </p:txBody>
      </p:sp>
      <p:sp>
        <p:nvSpPr>
          <p:cNvPr id="5" name="text-8-4">
            <a:extLst xmlns:a="http://schemas.openxmlformats.org/drawingml/2006/main">
              <a:ext uri="{FF2B5EF4-FFF2-40B4-BE49-F238E27FC236}">
                <a16:creationId xmlns:a16="http://schemas.microsoft.com/office/drawing/2014/main" id="{605A21A9-EC24-46A4-B7B3-704C7837D973}"/>
              </a:ext>
            </a:extLst>
          </p:cNvPr>
          <p:cNvSpPr>
            <a:spLocks xmlns:a="http://schemas.openxmlformats.org/drawingml/2006/main" noGrp="1"/>
          </p:cNvSpPr>
          <p:nvPr/>
        </p:nvSpPr>
        <p:spPr>
          <a:xfrm xmlns:a="http://schemas.openxmlformats.org/drawingml/2006/main">
            <a:off x="666750" y="44100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D5E5A9"/>
                </a:solidFill>
                <a:latin typeface="Arial"/>
                <a:ea typeface="Arial"/>
                <a:cs typeface="Arial"/>
              </a:defRPr>
            </a:pPr>
            <a:r>
              <a:rPr sz="1875" b="0">
                <a:solidFill>
                  <a:srgbClr val="D5E5A9"/>
                </a:solidFill>
                <a:latin typeface="Arial"/>
                <a:ea typeface="Arial"/>
                <a:cs typeface="Arial"/>
              </a:rPr>
              <a:t>deepshikharani297@gmail.com</a:t>
            </a:r>
          </a:p>
        </p:txBody>
      </p:sp>
      <p:sp>
        <p:nvSpPr>
          <p:cNvPr id="6" name="text-8-5">
            <a:extLst xmlns:a="http://schemas.openxmlformats.org/drawingml/2006/main">
              <a:ext uri="{FF2B5EF4-FFF2-40B4-BE49-F238E27FC236}">
                <a16:creationId xmlns:a16="http://schemas.microsoft.com/office/drawing/2014/main" id="{FB77080E-8867-4A0E-8462-79E411A02975}"/>
              </a:ext>
            </a:extLst>
          </p:cNvPr>
          <p:cNvSpPr>
            <a:spLocks xmlns:a="http://schemas.openxmlformats.org/drawingml/2006/main" noGrp="1"/>
          </p:cNvSpPr>
          <p:nvPr/>
        </p:nvSpPr>
        <p:spPr>
          <a:xfrm xmlns:a="http://schemas.openxmlformats.org/drawingml/2006/main">
            <a:off x="6858000" y="38957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Ved Patel</a:t>
            </a:r>
          </a:p>
        </p:txBody>
      </p:sp>
      <p:sp>
        <p:nvSpPr>
          <p:cNvPr id="7" name="text-8-6">
            <a:extLst xmlns:a="http://schemas.openxmlformats.org/drawingml/2006/main">
              <a:ext uri="{FF2B5EF4-FFF2-40B4-BE49-F238E27FC236}">
                <a16:creationId xmlns:a16="http://schemas.microsoft.com/office/drawing/2014/main" id="{85F05CC9-6855-4C6A-8464-50FD100F129C}"/>
              </a:ext>
            </a:extLst>
          </p:cNvPr>
          <p:cNvSpPr>
            <a:spLocks xmlns:a="http://schemas.openxmlformats.org/drawingml/2006/main" noGrp="1"/>
          </p:cNvSpPr>
          <p:nvPr/>
        </p:nvSpPr>
        <p:spPr>
          <a:xfrm xmlns:a="http://schemas.openxmlformats.org/drawingml/2006/main">
            <a:off x="6858000" y="441007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D5E5A9"/>
                </a:solidFill>
                <a:latin typeface="Arial"/>
                <a:ea typeface="Arial"/>
                <a:cs typeface="Arial"/>
              </a:defRPr>
            </a:pPr>
            <a:r>
              <a:rPr sz="1875" b="0">
                <a:solidFill>
                  <a:srgbClr val="D5E5A9"/>
                </a:solidFill>
                <a:latin typeface="Arial"/>
                <a:ea typeface="Arial"/>
                <a:cs typeface="Arial"/>
              </a:rPr>
              <a:t>ved2032patel@gmail.com</a:t>
            </a:r>
          </a:p>
        </p:txBody>
      </p:sp>
      <p:sp>
        <p:nvSpPr>
          <p:cNvPr id="8" name="text-8-7">
            <a:extLst xmlns:a="http://schemas.openxmlformats.org/drawingml/2006/main">
              <a:ext uri="{FF2B5EF4-FFF2-40B4-BE49-F238E27FC236}">
                <a16:creationId xmlns:a16="http://schemas.microsoft.com/office/drawing/2014/main" id="{19875E90-0FCE-4563-9ECD-3A7011BEDF3F}"/>
              </a:ext>
            </a:extLst>
          </p:cNvPr>
          <p:cNvSpPr>
            <a:spLocks xmlns:a="http://schemas.openxmlformats.org/drawingml/2006/main" noGrp="1"/>
          </p:cNvSpPr>
          <p:nvPr/>
        </p:nvSpPr>
        <p:spPr>
          <a:xfrm xmlns:a="http://schemas.openxmlformats.org/drawingml/2006/main">
            <a:off x="666750" y="5591175"/>
            <a:ext cx="10763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Questions and live demonstration</a:t>
            </a:r>
          </a:p>
        </p:txBody>
      </p:sp>
    </p:spTree>
    <p:extLst>
      <p:ext uri="{BB962C8B-B14F-4D97-AF65-F5344CB8AC3E}">
        <p14:creationId xmlns:p14="http://schemas.microsoft.com/office/powerpoint/2010/main" val="6501668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2026-09-08T10:05:40.7910000Z</dcterms:created>
  <dcterms:modified xsi:type="dcterms:W3CDTF">2026-09-08T10:05:40.7910000Z</dcterms:modified>
</coreProperties>
</file>